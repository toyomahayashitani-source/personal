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表紙。15分ヒアリングの冒頭で開く。深追いせず次へ。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ここを最初に言い切るのが信頼の起点。院長は「診察を取られる」警戒を必ず持っている。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この3段階がこの資料の背骨。以降すべてのページでこの色が出てくる。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ヒアリングではこのページで止めて「どれがいちばん痛いですか」と聞く。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効果がいちばん早く目に見える工程。工事不要という点を必ず伝える。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「転記が消える」が受付スタッフに最も刺さる言い方。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ここを誇張しないことが信頼に直結する。1箇所正直に引くと資料全体が信用される。トーンを弱めないこと。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本命。ここで時間の話(次の試算ページ)に繋げる。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事務スタッフの残業に直結する話。受付・事務にも同席してもらえると効く。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最初の一歩の提案。ここだけなら今日から無料で試せる、と言えるのが強い。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ヒアリングでは『先生のところはどれが多いですか』と聞く道具として使う。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この場で院の数字を聞いて電卓を叩く。それが第一の矢のヒアリングの山場。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院長が最も気にする部分。ここを自分から先に言うと警戒が解ける。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「全部いっぺんに入れましょう」とは言わない。1つずつ確かめる進め方が信用される。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連絡先は必ず口頭でも伝える。手紙と同じく『こちらから電話しない』を明言する。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E"/>
        </a:solidFill>
      </p:bgPr>
    </p:bg>
    <p:spTree>
      <p:nvGrpSpPr>
        <p:cNvPr id="1" name=""/>
        <p:cNvGrpSpPr/>
        <p:nvPr/>
      </p:nvGrpSpPr>
      <p:grpSpPr>
        <a:xfrm>
          <a:off x="0" y="0"/>
          <a:ext cx="0" cy="0"/>
          <a:chOff x="0" y="0"/>
          <a:chExt cx="0" cy="0"/>
        </a:xfrm>
      </p:grpSpPr>
      <p:sp>
        <p:nvSpPr>
          <p:cNvPr id="2" name="Text 0"/>
          <p:cNvSpPr txBox="1"/>
          <p:nvPr/>
        </p:nvSpPr>
        <p:spPr>
          <a:xfrm>
            <a:off x="640080" y="713232"/>
            <a:ext cx="5486400" cy="274320"/>
          </a:xfrm>
          <a:prstGeom prst="rect">
            <a:avLst/>
          </a:prstGeom>
          <a:noFill/>
          <a:ln/>
        </p:spPr>
        <p:txBody>
          <a:bodyPr wrap="square" lIns="0" tIns="0" rIns="0" bIns="0" rtlCol="0" anchor="ctr"/>
          <a:lstStyle/>
          <a:p>
            <a:pPr indent="0" marL="0">
              <a:buNone/>
            </a:pPr>
            <a:r>
              <a:rPr lang="en-US" sz="1300" b="1" spc="250" kern="0" dirty="0">
                <a:solidFill>
                  <a:srgbClr val="7FC4DE"/>
                </a:solidFill>
                <a:latin typeface="Yu Gothic" pitchFamily="34" charset="0"/>
                <a:ea typeface="Yu Gothic" pitchFamily="34" charset="-128"/>
                <a:ea typeface="Yu Gothic" pitchFamily="34" charset="-122"/>
                <a:cs typeface="Yu Gothic" pitchFamily="34" charset="-120"/>
              </a:rPr>
              <a:t>北摂AIサービス</a:t>
            </a:r>
            <a:endParaRPr lang="en-US" sz="1300" dirty="0"/>
          </a:p>
        </p:txBody>
      </p:sp>
      <p:sp>
        <p:nvSpPr>
          <p:cNvPr id="3" name="Text 1"/>
          <p:cNvSpPr txBox="1"/>
          <p:nvPr/>
        </p:nvSpPr>
        <p:spPr>
          <a:xfrm>
            <a:off x="640080" y="1371600"/>
            <a:ext cx="6583680" cy="2011680"/>
          </a:xfrm>
          <a:prstGeom prst="rect">
            <a:avLst/>
          </a:prstGeom>
          <a:noFill/>
          <a:ln/>
        </p:spPr>
        <p:txBody>
          <a:bodyPr wrap="square" lIns="0" tIns="0" rIns="0" bIns="0" rtlCol="0" anchor="ctr"/>
          <a:lstStyle/>
          <a:p>
            <a:pPr indent="0" marL="0">
              <a:lnSpc>
                <a:spcPts val="5800"/>
              </a:lnSpc>
              <a:buNone/>
            </a:pPr>
            <a:r>
              <a:rPr lang="en-US" sz="4600" b="1" dirty="0">
                <a:solidFill>
                  <a:srgbClr val="FFFFFF"/>
                </a:solidFill>
                <a:latin typeface="Yu Gothic" pitchFamily="34" charset="0"/>
                <a:ea typeface="Yu Gothic" pitchFamily="34" charset="-128"/>
                <a:ea typeface="Yu Gothic" pitchFamily="34" charset="-122"/>
                <a:cs typeface="Yu Gothic" pitchFamily="34" charset="-120"/>
              </a:rPr>
              <a:t>クリニックで</a:t>
            </a:r>
            <a:endParaRPr lang="en-US" sz="4600" dirty="0"/>
          </a:p>
          <a:p>
            <a:pPr indent="0" marL="0">
              <a:lnSpc>
                <a:spcPts val="5800"/>
              </a:lnSpc>
              <a:buNone/>
            </a:pPr>
            <a:r>
              <a:rPr lang="en-US" sz="4600" b="1" dirty="0">
                <a:solidFill>
                  <a:srgbClr val="FFFFFF"/>
                </a:solidFill>
                <a:latin typeface="Yu Gothic" pitchFamily="34" charset="0"/>
                <a:ea typeface="Yu Gothic" pitchFamily="34" charset="-128"/>
                <a:ea typeface="Yu Gothic" pitchFamily="34" charset="-122"/>
                <a:cs typeface="Yu Gothic" pitchFamily="34" charset="-120"/>
              </a:rPr>
              <a:t>AIにできること</a:t>
            </a:r>
            <a:endParaRPr lang="en-US" sz="4600" dirty="0"/>
          </a:p>
        </p:txBody>
      </p:sp>
      <p:sp>
        <p:nvSpPr>
          <p:cNvPr id="4" name="Text 2"/>
          <p:cNvSpPr txBox="1"/>
          <p:nvPr/>
        </p:nvSpPr>
        <p:spPr>
          <a:xfrm>
            <a:off x="640080" y="3611880"/>
            <a:ext cx="6766560" cy="822960"/>
          </a:xfrm>
          <a:prstGeom prst="rect">
            <a:avLst/>
          </a:prstGeom>
          <a:noFill/>
          <a:ln/>
        </p:spPr>
        <p:txBody>
          <a:bodyPr wrap="square" lIns="0" tIns="0" rIns="0" bIns="0" rtlCol="0" anchor="ctr"/>
          <a:lstStyle/>
          <a:p>
            <a:pPr indent="0" marL="0">
              <a:lnSpc>
                <a:spcPts val="2600"/>
              </a:lnSpc>
              <a:buNone/>
            </a:pPr>
            <a:r>
              <a:rPr lang="en-US" sz="1500" dirty="0">
                <a:solidFill>
                  <a:srgbClr val="BFD9E6"/>
                </a:solidFill>
                <a:latin typeface="Yu Gothic" pitchFamily="34" charset="0"/>
                <a:ea typeface="Yu Gothic" pitchFamily="34" charset="-128"/>
                <a:ea typeface="Yu Gothic" pitchFamily="34" charset="-122"/>
                <a:cs typeface="Yu Gothic" pitchFamily="34" charset="-120"/>
              </a:rPr>
              <a:t>診察はAIにはできません。けれど診察の「前後」に積み上がっている仕事は、いまかなりの部分まで機械に渡せます。</a:t>
            </a:r>
            <a:endParaRPr lang="en-US" sz="1500" dirty="0"/>
          </a:p>
        </p:txBody>
      </p:sp>
      <p:sp>
        <p:nvSpPr>
          <p:cNvPr id="5" name="Text 3"/>
          <p:cNvSpPr txBox="1"/>
          <p:nvPr/>
        </p:nvSpPr>
        <p:spPr>
          <a:xfrm>
            <a:off x="640080" y="5806440"/>
            <a:ext cx="6400800" cy="320040"/>
          </a:xfrm>
          <a:prstGeom prst="rect">
            <a:avLst/>
          </a:prstGeom>
          <a:noFill/>
          <a:ln/>
        </p:spPr>
        <p:txBody>
          <a:bodyPr wrap="square" lIns="0" tIns="0" rIns="0" bIns="0" rtlCol="0" anchor="ctr"/>
          <a:lstStyle/>
          <a:p>
            <a:pPr indent="0" marL="0">
              <a:buNone/>
            </a:pPr>
            <a:r>
              <a:rPr lang="en-US" sz="1250" dirty="0">
                <a:solidFill>
                  <a:srgbClr val="7FC4DE"/>
                </a:solidFill>
                <a:latin typeface="Yu Gothic" pitchFamily="34" charset="0"/>
                <a:ea typeface="Yu Gothic" pitchFamily="34" charset="-128"/>
                <a:ea typeface="Yu Gothic" pitchFamily="34" charset="-122"/>
                <a:cs typeface="Yu Gothic" pitchFamily="34" charset="-120"/>
              </a:rPr>
              <a:t>2026年10月　｜　北摂AIサービス　林谷 豊山</a:t>
            </a:r>
            <a:endParaRPr lang="en-US" sz="1250" dirty="0"/>
          </a:p>
        </p:txBody>
      </p:sp>
      <p:sp>
        <p:nvSpPr>
          <p:cNvPr id="6" name="Text 4"/>
          <p:cNvSpPr txBox="1"/>
          <p:nvPr/>
        </p:nvSpPr>
        <p:spPr>
          <a:xfrm>
            <a:off x="7772400" y="1371600"/>
            <a:ext cx="3657600" cy="274320"/>
          </a:xfrm>
          <a:prstGeom prst="rect">
            <a:avLst/>
          </a:prstGeom>
          <a:noFill/>
          <a:ln/>
        </p:spPr>
        <p:txBody>
          <a:bodyPr wrap="square" lIns="0" tIns="0" rIns="0" bIns="0" rtlCol="0" anchor="ctr"/>
          <a:lstStyle/>
          <a:p>
            <a:pPr indent="0" marL="0">
              <a:buNone/>
            </a:pPr>
            <a:r>
              <a:rPr lang="en-US" sz="1200" b="1" spc="200" kern="0" dirty="0">
                <a:solidFill>
                  <a:srgbClr val="7FC4DE"/>
                </a:solidFill>
                <a:latin typeface="Yu Gothic" pitchFamily="34" charset="0"/>
                <a:ea typeface="Yu Gothic" pitchFamily="34" charset="-128"/>
                <a:ea typeface="Yu Gothic" pitchFamily="34" charset="-122"/>
                <a:cs typeface="Yu Gothic" pitchFamily="34" charset="-120"/>
              </a:rPr>
              <a:t>外来の一日</a:t>
            </a:r>
            <a:endParaRPr lang="en-US" sz="1200" dirty="0"/>
          </a:p>
        </p:txBody>
      </p:sp>
      <p:sp>
        <p:nvSpPr>
          <p:cNvPr id="7" name="Shape 5"/>
          <p:cNvSpPr/>
          <p:nvPr/>
        </p:nvSpPr>
        <p:spPr>
          <a:xfrm>
            <a:off x="7772400" y="1883664"/>
            <a:ext cx="402336" cy="402336"/>
          </a:xfrm>
          <a:prstGeom prst="ellipse">
            <a:avLst/>
          </a:prstGeom>
          <a:solidFill>
            <a:srgbClr val="1F8F68"/>
          </a:solidFill>
          <a:ln w="12700">
            <a:solidFill>
              <a:srgbClr val="1F8F68"/>
            </a:solidFill>
            <a:prstDash val="solid"/>
          </a:ln>
        </p:spPr>
      </p:sp>
      <p:sp>
        <p:nvSpPr>
          <p:cNvPr id="8" name="Text 6"/>
          <p:cNvSpPr txBox="1"/>
          <p:nvPr/>
        </p:nvSpPr>
        <p:spPr>
          <a:xfrm>
            <a:off x="7772400" y="1883664"/>
            <a:ext cx="402336" cy="402336"/>
          </a:xfrm>
          <a:prstGeom prst="rect">
            <a:avLst/>
          </a:prstGeom>
          <a:noFill/>
          <a:ln/>
        </p:spPr>
        <p:txBody>
          <a:bodyPr wrap="square" lIns="0" tIns="0" rIns="0" bIns="0" rtlCol="0" anchor="ctr"/>
          <a:lstStyle/>
          <a:p>
            <a:pPr algn="ctr" indent="0" marL="0">
              <a:buNone/>
            </a:pPr>
            <a:r>
              <a:rPr lang="en-US" sz="1500" b="1" dirty="0">
                <a:solidFill>
                  <a:srgbClr val="0E3B4E"/>
                </a:solidFill>
                <a:latin typeface="Yu Gothic" pitchFamily="34" charset="0"/>
                <a:ea typeface="Yu Gothic" pitchFamily="34" charset="-128"/>
                <a:ea typeface="Yu Gothic" pitchFamily="34" charset="-122"/>
                <a:cs typeface="Yu Gothic" pitchFamily="34" charset="-120"/>
              </a:rPr>
              <a:t>1</a:t>
            </a:r>
            <a:endParaRPr lang="en-US" sz="1500" dirty="0"/>
          </a:p>
        </p:txBody>
      </p:sp>
      <p:sp>
        <p:nvSpPr>
          <p:cNvPr id="9" name="Text 7"/>
          <p:cNvSpPr txBox="1"/>
          <p:nvPr/>
        </p:nvSpPr>
        <p:spPr>
          <a:xfrm>
            <a:off x="8357616" y="1828800"/>
            <a:ext cx="3291840" cy="237744"/>
          </a:xfrm>
          <a:prstGeom prst="rect">
            <a:avLst/>
          </a:prstGeom>
          <a:noFill/>
          <a:ln/>
        </p:spPr>
        <p:txBody>
          <a:bodyPr wrap="square" lIns="0" tIns="0" rIns="0" bIns="0" rtlCol="0" anchor="ctr"/>
          <a:lstStyle/>
          <a:p>
            <a:pPr indent="0" marL="0">
              <a:buNone/>
            </a:pPr>
            <a:r>
              <a:rPr lang="en-US" sz="1050" dirty="0">
                <a:solidFill>
                  <a:srgbClr val="7FC4DE"/>
                </a:solidFill>
                <a:latin typeface="Yu Gothic" pitchFamily="34" charset="0"/>
                <a:ea typeface="Yu Gothic" pitchFamily="34" charset="-128"/>
                <a:ea typeface="Yu Gothic" pitchFamily="34" charset="-122"/>
                <a:cs typeface="Yu Gothic" pitchFamily="34" charset="-120"/>
              </a:rPr>
              <a:t>来院前</a:t>
            </a:r>
            <a:endParaRPr lang="en-US" sz="1050" dirty="0"/>
          </a:p>
        </p:txBody>
      </p:sp>
      <p:sp>
        <p:nvSpPr>
          <p:cNvPr id="10" name="Text 8"/>
          <p:cNvSpPr txBox="1"/>
          <p:nvPr/>
        </p:nvSpPr>
        <p:spPr>
          <a:xfrm>
            <a:off x="8357616" y="2057400"/>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電話と予約</a:t>
            </a:r>
            <a:endParaRPr lang="en-US" sz="1600" dirty="0"/>
          </a:p>
        </p:txBody>
      </p:sp>
      <p:sp>
        <p:nvSpPr>
          <p:cNvPr id="11" name="Shape 9"/>
          <p:cNvSpPr/>
          <p:nvPr/>
        </p:nvSpPr>
        <p:spPr>
          <a:xfrm>
            <a:off x="7772400" y="2633472"/>
            <a:ext cx="402336" cy="402336"/>
          </a:xfrm>
          <a:prstGeom prst="ellipse">
            <a:avLst/>
          </a:prstGeom>
          <a:solidFill>
            <a:srgbClr val="1F8F68"/>
          </a:solidFill>
          <a:ln w="12700">
            <a:solidFill>
              <a:srgbClr val="1F8F68"/>
            </a:solidFill>
            <a:prstDash val="solid"/>
          </a:ln>
        </p:spPr>
      </p:sp>
      <p:sp>
        <p:nvSpPr>
          <p:cNvPr id="12" name="Text 10"/>
          <p:cNvSpPr txBox="1"/>
          <p:nvPr/>
        </p:nvSpPr>
        <p:spPr>
          <a:xfrm>
            <a:off x="7772400" y="2633472"/>
            <a:ext cx="402336" cy="402336"/>
          </a:xfrm>
          <a:prstGeom prst="rect">
            <a:avLst/>
          </a:prstGeom>
          <a:noFill/>
          <a:ln/>
        </p:spPr>
        <p:txBody>
          <a:bodyPr wrap="square" lIns="0" tIns="0" rIns="0" bIns="0" rtlCol="0" anchor="ctr"/>
          <a:lstStyle/>
          <a:p>
            <a:pPr algn="ctr" indent="0" marL="0">
              <a:buNone/>
            </a:pPr>
            <a:r>
              <a:rPr lang="en-US" sz="1500" b="1" dirty="0">
                <a:solidFill>
                  <a:srgbClr val="0E3B4E"/>
                </a:solidFill>
                <a:latin typeface="Yu Gothic" pitchFamily="34" charset="0"/>
                <a:ea typeface="Yu Gothic" pitchFamily="34" charset="-128"/>
                <a:ea typeface="Yu Gothic" pitchFamily="34" charset="-122"/>
                <a:cs typeface="Yu Gothic" pitchFamily="34" charset="-120"/>
              </a:rPr>
              <a:t>2</a:t>
            </a:r>
            <a:endParaRPr lang="en-US" sz="1500" dirty="0"/>
          </a:p>
        </p:txBody>
      </p:sp>
      <p:sp>
        <p:nvSpPr>
          <p:cNvPr id="13" name="Text 11"/>
          <p:cNvSpPr txBox="1"/>
          <p:nvPr/>
        </p:nvSpPr>
        <p:spPr>
          <a:xfrm>
            <a:off x="8357616" y="2578608"/>
            <a:ext cx="3291840" cy="237744"/>
          </a:xfrm>
          <a:prstGeom prst="rect">
            <a:avLst/>
          </a:prstGeom>
          <a:noFill/>
          <a:ln/>
        </p:spPr>
        <p:txBody>
          <a:bodyPr wrap="square" lIns="0" tIns="0" rIns="0" bIns="0" rtlCol="0" anchor="ctr"/>
          <a:lstStyle/>
          <a:p>
            <a:pPr indent="0" marL="0">
              <a:buNone/>
            </a:pPr>
            <a:r>
              <a:rPr lang="en-US" sz="1050" dirty="0">
                <a:solidFill>
                  <a:srgbClr val="7FC4DE"/>
                </a:solidFill>
                <a:latin typeface="Yu Gothic" pitchFamily="34" charset="0"/>
                <a:ea typeface="Yu Gothic" pitchFamily="34" charset="-128"/>
                <a:ea typeface="Yu Gothic" pitchFamily="34" charset="-122"/>
                <a:cs typeface="Yu Gothic" pitchFamily="34" charset="-120"/>
              </a:rPr>
              <a:t>受付</a:t>
            </a:r>
            <a:endParaRPr lang="en-US" sz="1050" dirty="0"/>
          </a:p>
        </p:txBody>
      </p:sp>
      <p:sp>
        <p:nvSpPr>
          <p:cNvPr id="14" name="Text 12"/>
          <p:cNvSpPr txBox="1"/>
          <p:nvPr/>
        </p:nvSpPr>
        <p:spPr>
          <a:xfrm>
            <a:off x="8357616" y="2807208"/>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問診と受付事務</a:t>
            </a:r>
            <a:endParaRPr lang="en-US" sz="1600" dirty="0"/>
          </a:p>
        </p:txBody>
      </p:sp>
      <p:sp>
        <p:nvSpPr>
          <p:cNvPr id="15" name="Shape 13"/>
          <p:cNvSpPr/>
          <p:nvPr/>
        </p:nvSpPr>
        <p:spPr>
          <a:xfrm>
            <a:off x="7772400" y="3383280"/>
            <a:ext cx="402336" cy="402336"/>
          </a:xfrm>
          <a:prstGeom prst="ellipse">
            <a:avLst/>
          </a:prstGeom>
          <a:solidFill>
            <a:srgbClr val="8F6114"/>
          </a:solidFill>
          <a:ln w="12700">
            <a:solidFill>
              <a:srgbClr val="8F6114"/>
            </a:solidFill>
            <a:prstDash val="solid"/>
          </a:ln>
        </p:spPr>
      </p:sp>
      <p:sp>
        <p:nvSpPr>
          <p:cNvPr id="16" name="Text 14"/>
          <p:cNvSpPr txBox="1"/>
          <p:nvPr/>
        </p:nvSpPr>
        <p:spPr>
          <a:xfrm>
            <a:off x="7772400" y="3383280"/>
            <a:ext cx="402336" cy="402336"/>
          </a:xfrm>
          <a:prstGeom prst="rect">
            <a:avLst/>
          </a:prstGeom>
          <a:noFill/>
          <a:ln/>
        </p:spPr>
        <p:txBody>
          <a:bodyPr wrap="square" lIns="0" tIns="0" rIns="0" bIns="0" rtlCol="0" anchor="ctr"/>
          <a:lstStyle/>
          <a:p>
            <a:pPr algn="ctr" indent="0" marL="0">
              <a:buNone/>
            </a:pPr>
            <a:r>
              <a:rPr lang="en-US" sz="1500" b="1" dirty="0">
                <a:solidFill>
                  <a:srgbClr val="0E3B4E"/>
                </a:solidFill>
                <a:latin typeface="Yu Gothic" pitchFamily="34" charset="0"/>
                <a:ea typeface="Yu Gothic" pitchFamily="34" charset="-128"/>
                <a:ea typeface="Yu Gothic" pitchFamily="34" charset="-122"/>
                <a:cs typeface="Yu Gothic" pitchFamily="34" charset="-120"/>
              </a:rPr>
              <a:t>3</a:t>
            </a:r>
            <a:endParaRPr lang="en-US" sz="1500" dirty="0"/>
          </a:p>
        </p:txBody>
      </p:sp>
      <p:sp>
        <p:nvSpPr>
          <p:cNvPr id="17" name="Text 15"/>
          <p:cNvSpPr txBox="1"/>
          <p:nvPr/>
        </p:nvSpPr>
        <p:spPr>
          <a:xfrm>
            <a:off x="8357616" y="3328416"/>
            <a:ext cx="3291840" cy="237744"/>
          </a:xfrm>
          <a:prstGeom prst="rect">
            <a:avLst/>
          </a:prstGeom>
          <a:noFill/>
          <a:ln/>
        </p:spPr>
        <p:txBody>
          <a:bodyPr wrap="square" lIns="0" tIns="0" rIns="0" bIns="0" rtlCol="0" anchor="ctr"/>
          <a:lstStyle/>
          <a:p>
            <a:pPr indent="0" marL="0">
              <a:buNone/>
            </a:pPr>
            <a:r>
              <a:rPr lang="en-US" sz="1050" dirty="0">
                <a:solidFill>
                  <a:srgbClr val="7FC4DE"/>
                </a:solidFill>
                <a:latin typeface="Yu Gothic" pitchFamily="34" charset="0"/>
                <a:ea typeface="Yu Gothic" pitchFamily="34" charset="-128"/>
                <a:ea typeface="Yu Gothic" pitchFamily="34" charset="-122"/>
                <a:cs typeface="Yu Gothic" pitchFamily="34" charset="-120"/>
              </a:rPr>
              <a:t>診察中</a:t>
            </a:r>
            <a:endParaRPr lang="en-US" sz="1050" dirty="0"/>
          </a:p>
        </p:txBody>
      </p:sp>
      <p:sp>
        <p:nvSpPr>
          <p:cNvPr id="18" name="Text 16"/>
          <p:cNvSpPr txBox="1"/>
          <p:nvPr/>
        </p:nvSpPr>
        <p:spPr>
          <a:xfrm>
            <a:off x="8357616" y="3557016"/>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カルテ記録</a:t>
            </a:r>
            <a:endParaRPr lang="en-US" sz="1600" dirty="0"/>
          </a:p>
        </p:txBody>
      </p:sp>
      <p:sp>
        <p:nvSpPr>
          <p:cNvPr id="19" name="Shape 17"/>
          <p:cNvSpPr/>
          <p:nvPr/>
        </p:nvSpPr>
        <p:spPr>
          <a:xfrm>
            <a:off x="7772400" y="4133088"/>
            <a:ext cx="402336" cy="402336"/>
          </a:xfrm>
          <a:prstGeom prst="ellipse">
            <a:avLst/>
          </a:prstGeom>
          <a:solidFill>
            <a:srgbClr val="8F6114"/>
          </a:solidFill>
          <a:ln w="12700">
            <a:solidFill>
              <a:srgbClr val="8F6114"/>
            </a:solidFill>
            <a:prstDash val="solid"/>
          </a:ln>
        </p:spPr>
      </p:sp>
      <p:sp>
        <p:nvSpPr>
          <p:cNvPr id="20" name="Text 18"/>
          <p:cNvSpPr txBox="1"/>
          <p:nvPr/>
        </p:nvSpPr>
        <p:spPr>
          <a:xfrm>
            <a:off x="7772400" y="4133088"/>
            <a:ext cx="402336" cy="402336"/>
          </a:xfrm>
          <a:prstGeom prst="rect">
            <a:avLst/>
          </a:prstGeom>
          <a:noFill/>
          <a:ln/>
        </p:spPr>
        <p:txBody>
          <a:bodyPr wrap="square" lIns="0" tIns="0" rIns="0" bIns="0" rtlCol="0" anchor="ctr"/>
          <a:lstStyle/>
          <a:p>
            <a:pPr algn="ctr" indent="0" marL="0">
              <a:buNone/>
            </a:pPr>
            <a:r>
              <a:rPr lang="en-US" sz="1500" b="1" dirty="0">
                <a:solidFill>
                  <a:srgbClr val="0E3B4E"/>
                </a:solidFill>
                <a:latin typeface="Yu Gothic" pitchFamily="34" charset="0"/>
                <a:ea typeface="Yu Gothic" pitchFamily="34" charset="-128"/>
                <a:ea typeface="Yu Gothic" pitchFamily="34" charset="-122"/>
                <a:cs typeface="Yu Gothic" pitchFamily="34" charset="-120"/>
              </a:rPr>
              <a:t>4</a:t>
            </a:r>
            <a:endParaRPr lang="en-US" sz="1500" dirty="0"/>
          </a:p>
        </p:txBody>
      </p:sp>
      <p:sp>
        <p:nvSpPr>
          <p:cNvPr id="21" name="Text 19"/>
          <p:cNvSpPr txBox="1"/>
          <p:nvPr/>
        </p:nvSpPr>
        <p:spPr>
          <a:xfrm>
            <a:off x="8357616" y="4078224"/>
            <a:ext cx="3291840" cy="237744"/>
          </a:xfrm>
          <a:prstGeom prst="rect">
            <a:avLst/>
          </a:prstGeom>
          <a:noFill/>
          <a:ln/>
        </p:spPr>
        <p:txBody>
          <a:bodyPr wrap="square" lIns="0" tIns="0" rIns="0" bIns="0" rtlCol="0" anchor="ctr"/>
          <a:lstStyle/>
          <a:p>
            <a:pPr indent="0" marL="0">
              <a:buNone/>
            </a:pPr>
            <a:r>
              <a:rPr lang="en-US" sz="1050" dirty="0">
                <a:solidFill>
                  <a:srgbClr val="7FC4DE"/>
                </a:solidFill>
                <a:latin typeface="Yu Gothic" pitchFamily="34" charset="0"/>
                <a:ea typeface="Yu Gothic" pitchFamily="34" charset="-128"/>
                <a:ea typeface="Yu Gothic" pitchFamily="34" charset="-122"/>
                <a:cs typeface="Yu Gothic" pitchFamily="34" charset="-120"/>
              </a:rPr>
              <a:t>診察後</a:t>
            </a:r>
            <a:endParaRPr lang="en-US" sz="1050" dirty="0"/>
          </a:p>
        </p:txBody>
      </p:sp>
      <p:sp>
        <p:nvSpPr>
          <p:cNvPr id="22" name="Text 20"/>
          <p:cNvSpPr txBox="1"/>
          <p:nvPr/>
        </p:nvSpPr>
        <p:spPr>
          <a:xfrm>
            <a:off x="8357616" y="4306824"/>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書類作成</a:t>
            </a:r>
            <a:endParaRPr lang="en-US" sz="1600" dirty="0"/>
          </a:p>
        </p:txBody>
      </p:sp>
      <p:sp>
        <p:nvSpPr>
          <p:cNvPr id="23" name="Shape 21"/>
          <p:cNvSpPr/>
          <p:nvPr/>
        </p:nvSpPr>
        <p:spPr>
          <a:xfrm>
            <a:off x="7772400" y="4882896"/>
            <a:ext cx="402336" cy="402336"/>
          </a:xfrm>
          <a:prstGeom prst="ellipse">
            <a:avLst/>
          </a:prstGeom>
          <a:solidFill>
            <a:srgbClr val="8F6114"/>
          </a:solidFill>
          <a:ln w="12700">
            <a:solidFill>
              <a:srgbClr val="8F6114"/>
            </a:solidFill>
            <a:prstDash val="solid"/>
          </a:ln>
        </p:spPr>
      </p:sp>
      <p:sp>
        <p:nvSpPr>
          <p:cNvPr id="24" name="Text 22"/>
          <p:cNvSpPr txBox="1"/>
          <p:nvPr/>
        </p:nvSpPr>
        <p:spPr>
          <a:xfrm>
            <a:off x="7772400" y="4882896"/>
            <a:ext cx="402336" cy="402336"/>
          </a:xfrm>
          <a:prstGeom prst="rect">
            <a:avLst/>
          </a:prstGeom>
          <a:noFill/>
          <a:ln/>
        </p:spPr>
        <p:txBody>
          <a:bodyPr wrap="square" lIns="0" tIns="0" rIns="0" bIns="0" rtlCol="0" anchor="ctr"/>
          <a:lstStyle/>
          <a:p>
            <a:pPr algn="ctr" indent="0" marL="0">
              <a:buNone/>
            </a:pPr>
            <a:r>
              <a:rPr lang="en-US" sz="1500" b="1" dirty="0">
                <a:solidFill>
                  <a:srgbClr val="0E3B4E"/>
                </a:solidFill>
                <a:latin typeface="Yu Gothic" pitchFamily="34" charset="0"/>
                <a:ea typeface="Yu Gothic" pitchFamily="34" charset="-128"/>
                <a:ea typeface="Yu Gothic" pitchFamily="34" charset="-122"/>
                <a:cs typeface="Yu Gothic" pitchFamily="34" charset="-120"/>
              </a:rPr>
              <a:t>5</a:t>
            </a:r>
            <a:endParaRPr lang="en-US" sz="1500" dirty="0"/>
          </a:p>
        </p:txBody>
      </p:sp>
      <p:sp>
        <p:nvSpPr>
          <p:cNvPr id="25" name="Text 23"/>
          <p:cNvSpPr txBox="1"/>
          <p:nvPr/>
        </p:nvSpPr>
        <p:spPr>
          <a:xfrm>
            <a:off x="8357616" y="4828032"/>
            <a:ext cx="3291840" cy="237744"/>
          </a:xfrm>
          <a:prstGeom prst="rect">
            <a:avLst/>
          </a:prstGeom>
          <a:noFill/>
          <a:ln/>
        </p:spPr>
        <p:txBody>
          <a:bodyPr wrap="square" lIns="0" tIns="0" rIns="0" bIns="0" rtlCol="0" anchor="ctr"/>
          <a:lstStyle/>
          <a:p>
            <a:pPr indent="0" marL="0">
              <a:buNone/>
            </a:pPr>
            <a:r>
              <a:rPr lang="en-US" sz="1050" dirty="0">
                <a:solidFill>
                  <a:srgbClr val="7FC4DE"/>
                </a:solidFill>
                <a:latin typeface="Yu Gothic" pitchFamily="34" charset="0"/>
                <a:ea typeface="Yu Gothic" pitchFamily="34" charset="-128"/>
                <a:ea typeface="Yu Gothic" pitchFamily="34" charset="-122"/>
                <a:cs typeface="Yu Gothic" pitchFamily="34" charset="-120"/>
              </a:rPr>
              <a:t>月初</a:t>
            </a:r>
            <a:endParaRPr lang="en-US" sz="1050" dirty="0"/>
          </a:p>
        </p:txBody>
      </p:sp>
      <p:sp>
        <p:nvSpPr>
          <p:cNvPr id="26" name="Text 24"/>
          <p:cNvSpPr txBox="1"/>
          <p:nvPr/>
        </p:nvSpPr>
        <p:spPr>
          <a:xfrm>
            <a:off x="8357616" y="5056632"/>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レセプトとフォロー</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B4E"/>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365760"/>
          </a:xfrm>
          <a:prstGeom prst="rect">
            <a:avLst/>
          </a:prstGeom>
          <a:noFill/>
          <a:ln/>
        </p:spPr>
        <p:txBody>
          <a:bodyPr wrap="square" lIns="0" tIns="0" rIns="0" bIns="0" rtlCol="0" anchor="ctr"/>
          <a:lstStyle/>
          <a:p>
            <a:pPr indent="0" marL="0">
              <a:buNone/>
            </a:pPr>
            <a:r>
              <a:rPr lang="en-US" sz="1300" b="1" spc="250" kern="0" dirty="0">
                <a:solidFill>
                  <a:srgbClr val="7FC4DE"/>
                </a:solidFill>
                <a:latin typeface="Yu Gothic" pitchFamily="34" charset="0"/>
                <a:ea typeface="Yu Gothic" pitchFamily="34" charset="-128"/>
                <a:ea typeface="Yu Gothic" pitchFamily="34" charset="-122"/>
                <a:cs typeface="Yu Gothic" pitchFamily="34" charset="-120"/>
              </a:rPr>
              <a:t>はじめに、線引きを</a:t>
            </a:r>
            <a:endParaRPr lang="en-US" sz="1300" dirty="0"/>
          </a:p>
        </p:txBody>
      </p:sp>
      <p:sp>
        <p:nvSpPr>
          <p:cNvPr id="3" name="Text 1"/>
          <p:cNvSpPr txBox="1"/>
          <p:nvPr/>
        </p:nvSpPr>
        <p:spPr>
          <a:xfrm>
            <a:off x="640080" y="1143000"/>
            <a:ext cx="10515600" cy="1371600"/>
          </a:xfrm>
          <a:prstGeom prst="rect">
            <a:avLst/>
          </a:prstGeom>
          <a:noFill/>
          <a:ln/>
        </p:spPr>
        <p:txBody>
          <a:bodyPr wrap="square" lIns="0" tIns="0" rIns="0" bIns="0" rtlCol="0" anchor="ctr"/>
          <a:lstStyle/>
          <a:p>
            <a:pPr indent="0" marL="0">
              <a:lnSpc>
                <a:spcPts val="5200"/>
              </a:lnSpc>
              <a:buNone/>
            </a:pPr>
            <a:r>
              <a:rPr lang="en-US" sz="3600" b="1" dirty="0">
                <a:solidFill>
                  <a:srgbClr val="FFFFFF"/>
                </a:solidFill>
                <a:latin typeface="Yu Gothic" pitchFamily="34" charset="0"/>
                <a:ea typeface="Yu Gothic" pitchFamily="34" charset="-128"/>
                <a:ea typeface="Yu Gothic" pitchFamily="34" charset="-122"/>
                <a:cs typeface="Yu Gothic" pitchFamily="34" charset="-120"/>
              </a:rPr>
              <a:t>診察はAIにはできません。</a:t>
            </a:r>
            <a:endParaRPr lang="en-US" sz="3600" dirty="0"/>
          </a:p>
          <a:p>
            <a:pPr indent="0" marL="0">
              <a:lnSpc>
                <a:spcPts val="5200"/>
              </a:lnSpc>
              <a:buNone/>
            </a:pPr>
            <a:r>
              <a:rPr lang="en-US" sz="3600" b="1" dirty="0">
                <a:solidFill>
                  <a:srgbClr val="6FD3AC"/>
                </a:solidFill>
                <a:latin typeface="Yu Gothic" pitchFamily="34" charset="0"/>
                <a:ea typeface="Yu Gothic" pitchFamily="34" charset="-128"/>
                <a:ea typeface="Yu Gothic" pitchFamily="34" charset="-122"/>
                <a:cs typeface="Yu Gothic" pitchFamily="34" charset="-120"/>
              </a:rPr>
              <a:t>扱うのは、その前後だけです。</a:t>
            </a:r>
            <a:endParaRPr lang="en-US" sz="3600" dirty="0"/>
          </a:p>
        </p:txBody>
      </p:sp>
      <p:sp>
        <p:nvSpPr>
          <p:cNvPr id="4" name="Shape 2"/>
          <p:cNvSpPr/>
          <p:nvPr/>
        </p:nvSpPr>
        <p:spPr>
          <a:xfrm>
            <a:off x="640080" y="2971800"/>
            <a:ext cx="3401568" cy="1572768"/>
          </a:xfrm>
          <a:prstGeom prst="roundRect">
            <a:avLst>
              <a:gd name="adj" fmla="val 5814"/>
            </a:avLst>
          </a:prstGeom>
          <a:solidFill>
            <a:srgbClr val="15607F"/>
          </a:solidFill>
          <a:ln w="12700">
            <a:solidFill>
              <a:srgbClr val="15607F"/>
            </a:solidFill>
            <a:prstDash val="solid"/>
          </a:ln>
        </p:spPr>
      </p:sp>
      <p:sp>
        <p:nvSpPr>
          <p:cNvPr id="5" name="Text 3"/>
          <p:cNvSpPr txBox="1"/>
          <p:nvPr/>
        </p:nvSpPr>
        <p:spPr>
          <a:xfrm>
            <a:off x="640080" y="3154680"/>
            <a:ext cx="3401568" cy="384048"/>
          </a:xfrm>
          <a:prstGeom prst="rect">
            <a:avLst/>
          </a:prstGeom>
          <a:no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8"/>
                <a:ea typeface="Yu Gothic" pitchFamily="34" charset="-122"/>
                <a:cs typeface="Yu Gothic" pitchFamily="34" charset="-120"/>
              </a:rPr>
              <a:t>診察前</a:t>
            </a:r>
            <a:endParaRPr lang="en-US" sz="2100" dirty="0"/>
          </a:p>
        </p:txBody>
      </p:sp>
      <p:sp>
        <p:nvSpPr>
          <p:cNvPr id="6" name="Text 4"/>
          <p:cNvSpPr txBox="1"/>
          <p:nvPr/>
        </p:nvSpPr>
        <p:spPr>
          <a:xfrm>
            <a:off x="777240" y="3566160"/>
            <a:ext cx="3127248" cy="292608"/>
          </a:xfrm>
          <a:prstGeom prst="rect">
            <a:avLst/>
          </a:prstGeom>
          <a:noFill/>
          <a:ln/>
        </p:spPr>
        <p:txBody>
          <a:bodyPr wrap="square" lIns="0" tIns="0" rIns="0" bIns="0" rtlCol="0" anchor="ctr"/>
          <a:lstStyle/>
          <a:p>
            <a:pPr algn="ctr" indent="0" marL="0">
              <a:buNone/>
            </a:pPr>
            <a:r>
              <a:rPr lang="en-US" sz="1150" dirty="0">
                <a:solidFill>
                  <a:srgbClr val="FFFFFF"/>
                </a:solidFill>
                <a:latin typeface="Yu Gothic" pitchFamily="34" charset="0"/>
                <a:ea typeface="Yu Gothic" pitchFamily="34" charset="-128"/>
                <a:ea typeface="Yu Gothic" pitchFamily="34" charset="-122"/>
                <a:cs typeface="Yu Gothic" pitchFamily="34" charset="-120"/>
              </a:rPr>
              <a:t>電話・予約・問診・受付</a:t>
            </a:r>
            <a:endParaRPr lang="en-US" sz="1150" dirty="0"/>
          </a:p>
        </p:txBody>
      </p:sp>
      <p:sp>
        <p:nvSpPr>
          <p:cNvPr id="7" name="Text 5"/>
          <p:cNvSpPr txBox="1"/>
          <p:nvPr/>
        </p:nvSpPr>
        <p:spPr>
          <a:xfrm>
            <a:off x="1609344" y="3959352"/>
            <a:ext cx="1463040" cy="310896"/>
          </a:xfrm>
          <a:prstGeom prst="rect">
            <a:avLst/>
          </a:prstGeom>
          <a:noFill/>
          <a:ln/>
        </p:spPr>
        <p:txBody>
          <a:bodyPr wrap="square" lIns="0" tIns="0" rIns="0" bIns="0" rtlCol="0" anchor="ctr"/>
          <a:lstStyle/>
          <a:p>
            <a:pPr algn="ctr" indent="0" marL="0">
              <a:buNone/>
            </a:pPr>
            <a:r>
              <a:rPr lang="en-US" sz="1200" b="1" dirty="0">
                <a:solidFill>
                  <a:srgbClr val="BFD9E6"/>
                </a:solidFill>
                <a:latin typeface="Yu Gothic" pitchFamily="34" charset="0"/>
                <a:ea typeface="Yu Gothic" pitchFamily="34" charset="-128"/>
                <a:ea typeface="Yu Gothic" pitchFamily="34" charset="-122"/>
                <a:cs typeface="Yu Gothic" pitchFamily="34" charset="-120"/>
              </a:rPr>
              <a:t>AIが入る</a:t>
            </a:r>
            <a:endParaRPr lang="en-US" sz="1200" dirty="0"/>
          </a:p>
        </p:txBody>
      </p:sp>
      <p:sp>
        <p:nvSpPr>
          <p:cNvPr id="8" name="Shape 6"/>
          <p:cNvSpPr/>
          <p:nvPr/>
        </p:nvSpPr>
        <p:spPr>
          <a:xfrm>
            <a:off x="4398264" y="2971800"/>
            <a:ext cx="3401568" cy="1572768"/>
          </a:xfrm>
          <a:prstGeom prst="roundRect">
            <a:avLst>
              <a:gd name="adj" fmla="val 5814"/>
            </a:avLst>
          </a:prstGeom>
          <a:solidFill>
            <a:srgbClr val="FFFFFF"/>
          </a:solidFill>
          <a:ln w="12700">
            <a:solidFill>
              <a:srgbClr val="FFFFFF"/>
            </a:solidFill>
            <a:prstDash val="solid"/>
          </a:ln>
        </p:spPr>
      </p:sp>
      <p:sp>
        <p:nvSpPr>
          <p:cNvPr id="9" name="Text 7"/>
          <p:cNvSpPr txBox="1"/>
          <p:nvPr/>
        </p:nvSpPr>
        <p:spPr>
          <a:xfrm>
            <a:off x="4398264" y="3154680"/>
            <a:ext cx="3401568" cy="384048"/>
          </a:xfrm>
          <a:prstGeom prst="rect">
            <a:avLst/>
          </a:prstGeom>
          <a:noFill/>
          <a:ln/>
        </p:spPr>
        <p:txBody>
          <a:bodyPr wrap="square" lIns="0" tIns="0" rIns="0" bIns="0" rtlCol="0" anchor="ctr"/>
          <a:lstStyle/>
          <a:p>
            <a:pPr algn="ctr" indent="0" marL="0">
              <a:buNone/>
            </a:pPr>
            <a:r>
              <a:rPr lang="en-US" sz="2100" b="1" dirty="0">
                <a:solidFill>
                  <a:srgbClr val="0E3B4E"/>
                </a:solidFill>
                <a:latin typeface="Yu Gothic" pitchFamily="34" charset="0"/>
                <a:ea typeface="Yu Gothic" pitchFamily="34" charset="-128"/>
                <a:ea typeface="Yu Gothic" pitchFamily="34" charset="-122"/>
                <a:cs typeface="Yu Gothic" pitchFamily="34" charset="-120"/>
              </a:rPr>
              <a:t>診　察</a:t>
            </a:r>
            <a:endParaRPr lang="en-US" sz="2100" dirty="0"/>
          </a:p>
        </p:txBody>
      </p:sp>
      <p:sp>
        <p:nvSpPr>
          <p:cNvPr id="10" name="Text 8"/>
          <p:cNvSpPr txBox="1"/>
          <p:nvPr/>
        </p:nvSpPr>
        <p:spPr>
          <a:xfrm>
            <a:off x="4535424" y="3566160"/>
            <a:ext cx="3127248" cy="292608"/>
          </a:xfrm>
          <a:prstGeom prst="rect">
            <a:avLst/>
          </a:prstGeom>
          <a:noFill/>
          <a:ln/>
        </p:spPr>
        <p:txBody>
          <a:bodyPr wrap="square" lIns="0" tIns="0" rIns="0" bIns="0" rtlCol="0" anchor="ctr"/>
          <a:lstStyle/>
          <a:p>
            <a:pPr algn="ctr" indent="0" marL="0">
              <a:buNone/>
            </a:pPr>
            <a:r>
              <a:rPr lang="en-US" sz="1150" dirty="0">
                <a:solidFill>
                  <a:srgbClr val="0E3B4E"/>
                </a:solidFill>
                <a:latin typeface="Yu Gothic" pitchFamily="34" charset="0"/>
                <a:ea typeface="Yu Gothic" pitchFamily="34" charset="-128"/>
                <a:ea typeface="Yu Gothic" pitchFamily="34" charset="-122"/>
                <a:cs typeface="Yu Gothic" pitchFamily="34" charset="-120"/>
              </a:rPr>
              <a:t>診断・治療の判断</a:t>
            </a:r>
            <a:endParaRPr lang="en-US" sz="1150" dirty="0"/>
          </a:p>
        </p:txBody>
      </p:sp>
      <p:sp>
        <p:nvSpPr>
          <p:cNvPr id="11" name="Text 9"/>
          <p:cNvSpPr txBox="1"/>
          <p:nvPr/>
        </p:nvSpPr>
        <p:spPr>
          <a:xfrm>
            <a:off x="5367528" y="3959352"/>
            <a:ext cx="1463040" cy="310896"/>
          </a:xfrm>
          <a:prstGeom prst="rect">
            <a:avLst/>
          </a:prstGeom>
          <a:noFill/>
          <a:ln/>
        </p:spPr>
        <p:txBody>
          <a:bodyPr wrap="square" lIns="0" tIns="0" rIns="0" bIns="0" rtlCol="0" anchor="ctr"/>
          <a:lstStyle/>
          <a:p>
            <a:pPr algn="ctr" indent="0" marL="0">
              <a:buNone/>
            </a:pPr>
            <a:r>
              <a:rPr lang="en-US" sz="1200" b="1" dirty="0">
                <a:solidFill>
                  <a:srgbClr val="0E3B4E"/>
                </a:solidFill>
                <a:latin typeface="Yu Gothic" pitchFamily="34" charset="0"/>
                <a:ea typeface="Yu Gothic" pitchFamily="34" charset="-128"/>
                <a:ea typeface="Yu Gothic" pitchFamily="34" charset="-122"/>
                <a:cs typeface="Yu Gothic" pitchFamily="34" charset="-120"/>
              </a:rPr>
              <a:t>医師のみ</a:t>
            </a:r>
            <a:endParaRPr lang="en-US" sz="1200" dirty="0"/>
          </a:p>
        </p:txBody>
      </p:sp>
      <p:sp>
        <p:nvSpPr>
          <p:cNvPr id="12" name="Shape 10"/>
          <p:cNvSpPr/>
          <p:nvPr/>
        </p:nvSpPr>
        <p:spPr>
          <a:xfrm>
            <a:off x="8156448" y="2971800"/>
            <a:ext cx="3401568" cy="1572768"/>
          </a:xfrm>
          <a:prstGeom prst="roundRect">
            <a:avLst>
              <a:gd name="adj" fmla="val 5814"/>
            </a:avLst>
          </a:prstGeom>
          <a:solidFill>
            <a:srgbClr val="15607F"/>
          </a:solidFill>
          <a:ln w="12700">
            <a:solidFill>
              <a:srgbClr val="15607F"/>
            </a:solidFill>
            <a:prstDash val="solid"/>
          </a:ln>
        </p:spPr>
      </p:sp>
      <p:sp>
        <p:nvSpPr>
          <p:cNvPr id="13" name="Text 11"/>
          <p:cNvSpPr txBox="1"/>
          <p:nvPr/>
        </p:nvSpPr>
        <p:spPr>
          <a:xfrm>
            <a:off x="8156448" y="3154680"/>
            <a:ext cx="3401568" cy="384048"/>
          </a:xfrm>
          <a:prstGeom prst="rect">
            <a:avLst/>
          </a:prstGeom>
          <a:no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8"/>
                <a:ea typeface="Yu Gothic" pitchFamily="34" charset="-122"/>
                <a:cs typeface="Yu Gothic" pitchFamily="34" charset="-120"/>
              </a:rPr>
              <a:t>診察後</a:t>
            </a:r>
            <a:endParaRPr lang="en-US" sz="2100" dirty="0"/>
          </a:p>
        </p:txBody>
      </p:sp>
      <p:sp>
        <p:nvSpPr>
          <p:cNvPr id="14" name="Text 12"/>
          <p:cNvSpPr txBox="1"/>
          <p:nvPr/>
        </p:nvSpPr>
        <p:spPr>
          <a:xfrm>
            <a:off x="8293608" y="3566160"/>
            <a:ext cx="3127248" cy="292608"/>
          </a:xfrm>
          <a:prstGeom prst="rect">
            <a:avLst/>
          </a:prstGeom>
          <a:noFill/>
          <a:ln/>
        </p:spPr>
        <p:txBody>
          <a:bodyPr wrap="square" lIns="0" tIns="0" rIns="0" bIns="0" rtlCol="0" anchor="ctr"/>
          <a:lstStyle/>
          <a:p>
            <a:pPr algn="ctr" indent="0" marL="0">
              <a:buNone/>
            </a:pPr>
            <a:r>
              <a:rPr lang="en-US" sz="1150" dirty="0">
                <a:solidFill>
                  <a:srgbClr val="FFFFFF"/>
                </a:solidFill>
                <a:latin typeface="Yu Gothic" pitchFamily="34" charset="0"/>
                <a:ea typeface="Yu Gothic" pitchFamily="34" charset="-128"/>
                <a:ea typeface="Yu Gothic" pitchFamily="34" charset="-122"/>
                <a:cs typeface="Yu Gothic" pitchFamily="34" charset="-120"/>
              </a:rPr>
              <a:t>書類・レセプト・フォロー</a:t>
            </a:r>
            <a:endParaRPr lang="en-US" sz="1150" dirty="0"/>
          </a:p>
        </p:txBody>
      </p:sp>
      <p:sp>
        <p:nvSpPr>
          <p:cNvPr id="15" name="Text 13"/>
          <p:cNvSpPr txBox="1"/>
          <p:nvPr/>
        </p:nvSpPr>
        <p:spPr>
          <a:xfrm>
            <a:off x="9125712" y="3959352"/>
            <a:ext cx="1463040" cy="310896"/>
          </a:xfrm>
          <a:prstGeom prst="rect">
            <a:avLst/>
          </a:prstGeom>
          <a:noFill/>
          <a:ln/>
        </p:spPr>
        <p:txBody>
          <a:bodyPr wrap="square" lIns="0" tIns="0" rIns="0" bIns="0" rtlCol="0" anchor="ctr"/>
          <a:lstStyle/>
          <a:p>
            <a:pPr algn="ctr" indent="0" marL="0">
              <a:buNone/>
            </a:pPr>
            <a:r>
              <a:rPr lang="en-US" sz="1200" b="1" dirty="0">
                <a:solidFill>
                  <a:srgbClr val="BFD9E6"/>
                </a:solidFill>
                <a:latin typeface="Yu Gothic" pitchFamily="34" charset="0"/>
                <a:ea typeface="Yu Gothic" pitchFamily="34" charset="-128"/>
                <a:ea typeface="Yu Gothic" pitchFamily="34" charset="-122"/>
                <a:cs typeface="Yu Gothic" pitchFamily="34" charset="-120"/>
              </a:rPr>
              <a:t>AIが入る</a:t>
            </a:r>
            <a:endParaRPr lang="en-US" sz="1200" dirty="0"/>
          </a:p>
        </p:txBody>
      </p:sp>
      <p:sp>
        <p:nvSpPr>
          <p:cNvPr id="16" name="Text 14"/>
          <p:cNvSpPr txBox="1"/>
          <p:nvPr/>
        </p:nvSpPr>
        <p:spPr>
          <a:xfrm>
            <a:off x="640080" y="5029200"/>
            <a:ext cx="10911535" cy="731520"/>
          </a:xfrm>
          <a:prstGeom prst="rect">
            <a:avLst/>
          </a:prstGeom>
          <a:noFill/>
          <a:ln/>
        </p:spPr>
        <p:txBody>
          <a:bodyPr wrap="square" lIns="0" tIns="0" rIns="0" bIns="0" rtlCol="0" anchor="ctr"/>
          <a:lstStyle/>
          <a:p>
            <a:pPr indent="0" marL="0">
              <a:lnSpc>
                <a:spcPts val="2400"/>
              </a:lnSpc>
              <a:buNone/>
            </a:pPr>
            <a:r>
              <a:rPr lang="en-US" sz="1400" dirty="0">
                <a:solidFill>
                  <a:srgbClr val="BFD9E6"/>
                </a:solidFill>
                <a:latin typeface="Yu Gothic" pitchFamily="34" charset="0"/>
                <a:ea typeface="Yu Gothic" pitchFamily="34" charset="-128"/>
                <a:ea typeface="Yu Gothic" pitchFamily="34" charset="-122"/>
                <a:cs typeface="Yu Gothic" pitchFamily="34" charset="-120"/>
              </a:rPr>
              <a:t>医師法により、診察・診断・治療の判断は医師にしか行えません。AIが出すものはすべて下書きで、確認して署名するのは先生です。この建て付けは、どの工程でも崩しません。</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どこまで機械に渡せるかは、工程で違います</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全部を同じ調子で「AIで効率化できます」と説明する資料が多いので、この資料では3段階に分けて書きます。</a:t>
            </a:r>
            <a:endParaRPr lang="en-US" sz="1300" dirty="0"/>
          </a:p>
        </p:txBody>
      </p:sp>
      <p:sp>
        <p:nvSpPr>
          <p:cNvPr id="4" name="Shape 2"/>
          <p:cNvSpPr/>
          <p:nvPr/>
        </p:nvSpPr>
        <p:spPr>
          <a:xfrm>
            <a:off x="640080" y="1828800"/>
            <a:ext cx="3401568" cy="2651760"/>
          </a:xfrm>
          <a:prstGeom prst="roundRect">
            <a:avLst>
              <a:gd name="adj" fmla="val 2759"/>
            </a:avLst>
          </a:prstGeom>
          <a:solidFill>
            <a:srgbClr val="E2F3EC"/>
          </a:solidFill>
          <a:ln w="12700">
            <a:solidFill>
              <a:srgbClr val="E2F3EC"/>
            </a:solidFill>
            <a:prstDash val="solid"/>
          </a:ln>
        </p:spPr>
      </p:sp>
      <p:sp>
        <p:nvSpPr>
          <p:cNvPr id="5" name="Text 3"/>
          <p:cNvSpPr txBox="1"/>
          <p:nvPr/>
        </p:nvSpPr>
        <p:spPr>
          <a:xfrm>
            <a:off x="932688" y="2148840"/>
            <a:ext cx="2816352" cy="411480"/>
          </a:xfrm>
          <a:prstGeom prst="rect">
            <a:avLst/>
          </a:prstGeom>
          <a:noFill/>
          <a:ln/>
        </p:spPr>
        <p:txBody>
          <a:bodyPr wrap="square" lIns="0" tIns="0" rIns="0" bIns="0" rtlCol="0" anchor="ctr"/>
          <a:lstStyle/>
          <a:p>
            <a:pPr indent="0" marL="0">
              <a:buNone/>
            </a:pPr>
            <a:r>
              <a:rPr lang="en-US" sz="2100" b="1" dirty="0">
                <a:solidFill>
                  <a:srgbClr val="1F8F68"/>
                </a:solidFill>
                <a:latin typeface="Yu Gothic" pitchFamily="34" charset="0"/>
                <a:ea typeface="Yu Gothic" pitchFamily="34" charset="-128"/>
                <a:ea typeface="Yu Gothic" pitchFamily="34" charset="-122"/>
                <a:cs typeface="Yu Gothic" pitchFamily="34" charset="-120"/>
              </a:rPr>
              <a:t>置き換えられる</a:t>
            </a:r>
            <a:endParaRPr lang="en-US" sz="2100" dirty="0"/>
          </a:p>
        </p:txBody>
      </p:sp>
      <p:sp>
        <p:nvSpPr>
          <p:cNvPr id="6" name="Text 4"/>
          <p:cNvSpPr txBox="1"/>
          <p:nvPr/>
        </p:nvSpPr>
        <p:spPr>
          <a:xfrm>
            <a:off x="932688" y="2697480"/>
            <a:ext cx="2816352" cy="1005840"/>
          </a:xfrm>
          <a:prstGeom prst="rect">
            <a:avLst/>
          </a:prstGeom>
          <a:noFill/>
          <a:ln/>
        </p:spPr>
        <p:txBody>
          <a:bodyPr wrap="square" lIns="0" tIns="0" rIns="0" bIns="0" rtlCol="0" anchor="ctr"/>
          <a:lstStyle/>
          <a:p>
            <a:pPr indent="0" marL="0">
              <a:lnSpc>
                <a:spcPts val="22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人が手を動かさなくても回ります。確認が要るのは例外対応のときだけです。</a:t>
            </a:r>
            <a:endParaRPr lang="en-US" sz="1350" dirty="0"/>
          </a:p>
        </p:txBody>
      </p:sp>
      <p:sp>
        <p:nvSpPr>
          <p:cNvPr id="7" name="Text 5"/>
          <p:cNvSpPr txBox="1"/>
          <p:nvPr/>
        </p:nvSpPr>
        <p:spPr>
          <a:xfrm>
            <a:off x="932688" y="3840480"/>
            <a:ext cx="2816352" cy="457200"/>
          </a:xfrm>
          <a:prstGeom prst="rect">
            <a:avLst/>
          </a:prstGeom>
          <a:noFill/>
          <a:ln/>
        </p:spPr>
        <p:txBody>
          <a:bodyPr wrap="square" lIns="0" tIns="0" rIns="0" bIns="0" rtlCol="0" anchor="ctr"/>
          <a:lstStyle/>
          <a:p>
            <a:pPr indent="0" marL="0">
              <a:lnSpc>
                <a:spcPts val="1900"/>
              </a:lnSpc>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例：電話の一次対応、Web問診</a:t>
            </a:r>
            <a:endParaRPr lang="en-US" sz="1200" dirty="0"/>
          </a:p>
        </p:txBody>
      </p:sp>
      <p:sp>
        <p:nvSpPr>
          <p:cNvPr id="8" name="Shape 6"/>
          <p:cNvSpPr/>
          <p:nvPr/>
        </p:nvSpPr>
        <p:spPr>
          <a:xfrm>
            <a:off x="4398264" y="1828800"/>
            <a:ext cx="3401568" cy="2651760"/>
          </a:xfrm>
          <a:prstGeom prst="roundRect">
            <a:avLst>
              <a:gd name="adj" fmla="val 2759"/>
            </a:avLst>
          </a:prstGeom>
          <a:solidFill>
            <a:srgbClr val="F8EEDC"/>
          </a:solidFill>
          <a:ln w="12700">
            <a:solidFill>
              <a:srgbClr val="F8EEDC"/>
            </a:solidFill>
            <a:prstDash val="solid"/>
          </a:ln>
        </p:spPr>
      </p:sp>
      <p:sp>
        <p:nvSpPr>
          <p:cNvPr id="9" name="Text 7"/>
          <p:cNvSpPr txBox="1"/>
          <p:nvPr/>
        </p:nvSpPr>
        <p:spPr>
          <a:xfrm>
            <a:off x="4690872" y="2148840"/>
            <a:ext cx="2816352" cy="411480"/>
          </a:xfrm>
          <a:prstGeom prst="rect">
            <a:avLst/>
          </a:prstGeom>
          <a:noFill/>
          <a:ln/>
        </p:spPr>
        <p:txBody>
          <a:bodyPr wrap="square" lIns="0" tIns="0" rIns="0" bIns="0" rtlCol="0" anchor="ctr"/>
          <a:lstStyle/>
          <a:p>
            <a:pPr indent="0" marL="0">
              <a:buNone/>
            </a:pPr>
            <a:r>
              <a:rPr lang="en-US" sz="21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2100" dirty="0"/>
          </a:p>
        </p:txBody>
      </p:sp>
      <p:sp>
        <p:nvSpPr>
          <p:cNvPr id="10" name="Text 8"/>
          <p:cNvSpPr txBox="1"/>
          <p:nvPr/>
        </p:nvSpPr>
        <p:spPr>
          <a:xfrm>
            <a:off x="4690872" y="2697480"/>
            <a:ext cx="2816352" cy="1005840"/>
          </a:xfrm>
          <a:prstGeom prst="rect">
            <a:avLst/>
          </a:prstGeom>
          <a:noFill/>
          <a:ln/>
        </p:spPr>
        <p:txBody>
          <a:bodyPr wrap="square" lIns="0" tIns="0" rIns="0" bIns="0" rtlCol="0" anchor="ctr"/>
          <a:lstStyle/>
          <a:p>
            <a:pPr indent="0" marL="0">
              <a:lnSpc>
                <a:spcPts val="22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AIが作り、人が目を通して仕上げます。確認は毎回必要です。</a:t>
            </a:r>
            <a:endParaRPr lang="en-US" sz="1350" dirty="0"/>
          </a:p>
        </p:txBody>
      </p:sp>
      <p:sp>
        <p:nvSpPr>
          <p:cNvPr id="11" name="Text 9"/>
          <p:cNvSpPr txBox="1"/>
          <p:nvPr/>
        </p:nvSpPr>
        <p:spPr>
          <a:xfrm>
            <a:off x="4690872" y="3840480"/>
            <a:ext cx="2816352" cy="457200"/>
          </a:xfrm>
          <a:prstGeom prst="rect">
            <a:avLst/>
          </a:prstGeom>
          <a:noFill/>
          <a:ln/>
        </p:spPr>
        <p:txBody>
          <a:bodyPr wrap="square" lIns="0" tIns="0" rIns="0" bIns="0" rtlCol="0" anchor="ctr"/>
          <a:lstStyle/>
          <a:p>
            <a:pPr indent="0" marL="0">
              <a:lnSpc>
                <a:spcPts val="1900"/>
              </a:lnSpc>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例：紹介状、意見書、カルテ記録</a:t>
            </a:r>
            <a:endParaRPr lang="en-US" sz="1200" dirty="0"/>
          </a:p>
        </p:txBody>
      </p:sp>
      <p:sp>
        <p:nvSpPr>
          <p:cNvPr id="12" name="Shape 10"/>
          <p:cNvSpPr/>
          <p:nvPr/>
        </p:nvSpPr>
        <p:spPr>
          <a:xfrm>
            <a:off x="8156448" y="1828800"/>
            <a:ext cx="3401568" cy="2651760"/>
          </a:xfrm>
          <a:prstGeom prst="roundRect">
            <a:avLst>
              <a:gd name="adj" fmla="val 2759"/>
            </a:avLst>
          </a:prstGeom>
          <a:solidFill>
            <a:srgbClr val="E6ECF0"/>
          </a:solidFill>
          <a:ln w="12700">
            <a:solidFill>
              <a:srgbClr val="E6ECF0"/>
            </a:solidFill>
            <a:prstDash val="solid"/>
          </a:ln>
        </p:spPr>
      </p:sp>
      <p:sp>
        <p:nvSpPr>
          <p:cNvPr id="13" name="Text 11"/>
          <p:cNvSpPr txBox="1"/>
          <p:nvPr/>
        </p:nvSpPr>
        <p:spPr>
          <a:xfrm>
            <a:off x="8449056" y="2148840"/>
            <a:ext cx="2816352" cy="411480"/>
          </a:xfrm>
          <a:prstGeom prst="rect">
            <a:avLst/>
          </a:prstGeom>
          <a:noFill/>
          <a:ln/>
        </p:spPr>
        <p:txBody>
          <a:bodyPr wrap="square" lIns="0" tIns="0" rIns="0" bIns="0" rtlCol="0" anchor="ctr"/>
          <a:lstStyle/>
          <a:p>
            <a:pPr indent="0" marL="0">
              <a:buNone/>
            </a:pPr>
            <a:r>
              <a:rPr lang="en-US" sz="2100" b="1" dirty="0">
                <a:solidFill>
                  <a:srgbClr val="506270"/>
                </a:solidFill>
                <a:latin typeface="Yu Gothic" pitchFamily="34" charset="0"/>
                <a:ea typeface="Yu Gothic" pitchFamily="34" charset="-128"/>
                <a:ea typeface="Yu Gothic" pitchFamily="34" charset="-122"/>
                <a:cs typeface="Yu Gothic" pitchFamily="34" charset="-120"/>
              </a:rPr>
              <a:t>人がやる</a:t>
            </a:r>
            <a:endParaRPr lang="en-US" sz="2100" dirty="0"/>
          </a:p>
        </p:txBody>
      </p:sp>
      <p:sp>
        <p:nvSpPr>
          <p:cNvPr id="14" name="Text 12"/>
          <p:cNvSpPr txBox="1"/>
          <p:nvPr/>
        </p:nvSpPr>
        <p:spPr>
          <a:xfrm>
            <a:off x="8449056" y="2697480"/>
            <a:ext cx="2816352" cy="1005840"/>
          </a:xfrm>
          <a:prstGeom prst="rect">
            <a:avLst/>
          </a:prstGeom>
          <a:noFill/>
          <a:ln/>
        </p:spPr>
        <p:txBody>
          <a:bodyPr wrap="square" lIns="0" tIns="0" rIns="0" bIns="0" rtlCol="0" anchor="ctr"/>
          <a:lstStyle/>
          <a:p>
            <a:pPr indent="0" marL="0">
              <a:lnSpc>
                <a:spcPts val="22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診察、診断、最終判断、署名。ここは渡しません。</a:t>
            </a:r>
            <a:endParaRPr lang="en-US" sz="1350" dirty="0"/>
          </a:p>
        </p:txBody>
      </p:sp>
      <p:sp>
        <p:nvSpPr>
          <p:cNvPr id="15" name="Text 13"/>
          <p:cNvSpPr txBox="1"/>
          <p:nvPr/>
        </p:nvSpPr>
        <p:spPr>
          <a:xfrm>
            <a:off x="8449056" y="3840480"/>
            <a:ext cx="2816352" cy="457200"/>
          </a:xfrm>
          <a:prstGeom prst="rect">
            <a:avLst/>
          </a:prstGeom>
          <a:noFill/>
          <a:ln/>
        </p:spPr>
        <p:txBody>
          <a:bodyPr wrap="square" lIns="0" tIns="0" rIns="0" bIns="0" rtlCol="0" anchor="ctr"/>
          <a:lstStyle/>
          <a:p>
            <a:pPr indent="0" marL="0">
              <a:lnSpc>
                <a:spcPts val="1900"/>
              </a:lnSpc>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例：医師法で定められた範囲</a:t>
            </a:r>
            <a:endParaRPr lang="en-US" sz="1200" dirty="0"/>
          </a:p>
        </p:txBody>
      </p:sp>
      <p:sp>
        <p:nvSpPr>
          <p:cNvPr id="16" name="Text 14"/>
          <p:cNvSpPr txBox="1"/>
          <p:nvPr/>
        </p:nvSpPr>
        <p:spPr>
          <a:xfrm>
            <a:off x="640080" y="4892040"/>
            <a:ext cx="10911535" cy="457200"/>
          </a:xfrm>
          <a:prstGeom prst="rect">
            <a:avLst/>
          </a:prstGeom>
          <a:noFill/>
          <a:ln/>
        </p:spPr>
        <p:txBody>
          <a:bodyPr wrap="square" lIns="0" tIns="0" rIns="0" bIns="0" rtlCol="0" anchor="ctr"/>
          <a:lstStyle/>
          <a:p>
            <a:pPr indent="0" marL="0">
              <a:buNone/>
            </a:pPr>
            <a:r>
              <a:rPr lang="en-US" sz="1400" dirty="0">
                <a:solidFill>
                  <a:srgbClr val="1F2D37"/>
                </a:solidFill>
                <a:latin typeface="Yu Gothic" pitchFamily="34" charset="0"/>
                <a:ea typeface="Yu Gothic" pitchFamily="34" charset="-128"/>
                <a:ea typeface="Yu Gothic" pitchFamily="34" charset="-122"/>
                <a:cs typeface="Yu Gothic" pitchFamily="34" charset="-120"/>
              </a:rPr>
              <a:t>この3段階を、次のページから工程ごとに当てはめていきます。できないことを先に申し上げるほうが、結局お役に立てると考えています。</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外来の一日と、AIの届く範囲</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工程ごとに到達できるところが違います。いちばん効くのは④の書類です。</a:t>
            </a:r>
            <a:endParaRPr lang="en-US" sz="1300" dirty="0"/>
          </a:p>
        </p:txBody>
      </p:sp>
      <p:sp>
        <p:nvSpPr>
          <p:cNvPr id="4" name="Shape 2"/>
          <p:cNvSpPr/>
          <p:nvPr/>
        </p:nvSpPr>
        <p:spPr>
          <a:xfrm>
            <a:off x="640080" y="1938528"/>
            <a:ext cx="2039112" cy="3035808"/>
          </a:xfrm>
          <a:prstGeom prst="roundRect">
            <a:avLst>
              <a:gd name="adj" fmla="val 3587"/>
            </a:avLst>
          </a:prstGeom>
          <a:solidFill>
            <a:srgbClr val="FFFFFF"/>
          </a:solidFill>
          <a:ln w="12700">
            <a:solidFill>
              <a:srgbClr val="D2DFE8"/>
            </a:solidFill>
            <a:prstDash val="solid"/>
          </a:ln>
        </p:spPr>
      </p:sp>
      <p:sp>
        <p:nvSpPr>
          <p:cNvPr id="5" name="Shape 3"/>
          <p:cNvSpPr/>
          <p:nvPr/>
        </p:nvSpPr>
        <p:spPr>
          <a:xfrm>
            <a:off x="1421892" y="2212848"/>
            <a:ext cx="475488" cy="475488"/>
          </a:xfrm>
          <a:prstGeom prst="ellipse">
            <a:avLst/>
          </a:prstGeom>
          <a:solidFill>
            <a:srgbClr val="1F8F68"/>
          </a:solidFill>
          <a:ln w="12700">
            <a:solidFill>
              <a:srgbClr val="1F8F68"/>
            </a:solidFill>
            <a:prstDash val="solid"/>
          </a:ln>
        </p:spPr>
      </p:sp>
      <p:sp>
        <p:nvSpPr>
          <p:cNvPr id="6" name="Text 4"/>
          <p:cNvSpPr txBox="1"/>
          <p:nvPr/>
        </p:nvSpPr>
        <p:spPr>
          <a:xfrm>
            <a:off x="1421892" y="22128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8"/>
                <a:ea typeface="Yu Gothic" pitchFamily="34" charset="-122"/>
                <a:cs typeface="Yu Gothic" pitchFamily="34" charset="-120"/>
              </a:rPr>
              <a:t>1</a:t>
            </a:r>
            <a:endParaRPr lang="en-US" sz="1700" dirty="0"/>
          </a:p>
        </p:txBody>
      </p:sp>
      <p:sp>
        <p:nvSpPr>
          <p:cNvPr id="7" name="Text 5"/>
          <p:cNvSpPr txBox="1"/>
          <p:nvPr/>
        </p:nvSpPr>
        <p:spPr>
          <a:xfrm>
            <a:off x="731520" y="2816352"/>
            <a:ext cx="1856232" cy="274320"/>
          </a:xfrm>
          <a:prstGeom prst="rect">
            <a:avLst/>
          </a:prstGeom>
          <a:noFill/>
          <a:ln/>
        </p:spPr>
        <p:txBody>
          <a:bodyPr wrap="square" lIns="0" tIns="0" rIns="0" bIns="0" rtlCol="0" anchor="ctr"/>
          <a:lstStyle/>
          <a:p>
            <a:pPr algn="ctr" indent="0" marL="0">
              <a:buNone/>
            </a:pPr>
            <a:r>
              <a:rPr lang="en-US" sz="1100" dirty="0">
                <a:solidFill>
                  <a:srgbClr val="5A6C79"/>
                </a:solidFill>
                <a:latin typeface="Yu Gothic" pitchFamily="34" charset="0"/>
                <a:ea typeface="Yu Gothic" pitchFamily="34" charset="-128"/>
                <a:ea typeface="Yu Gothic" pitchFamily="34" charset="-122"/>
                <a:cs typeface="Yu Gothic" pitchFamily="34" charset="-120"/>
              </a:rPr>
              <a:t>来院前</a:t>
            </a:r>
            <a:endParaRPr lang="en-US" sz="1100" dirty="0"/>
          </a:p>
        </p:txBody>
      </p:sp>
      <p:sp>
        <p:nvSpPr>
          <p:cNvPr id="8" name="Text 6"/>
          <p:cNvSpPr txBox="1"/>
          <p:nvPr/>
        </p:nvSpPr>
        <p:spPr>
          <a:xfrm>
            <a:off x="731520" y="3108960"/>
            <a:ext cx="1856232" cy="713232"/>
          </a:xfrm>
          <a:prstGeom prst="rect">
            <a:avLst/>
          </a:prstGeom>
          <a:noFill/>
          <a:ln/>
        </p:spPr>
        <p:txBody>
          <a:bodyPr wrap="square" lIns="0" tIns="0" rIns="0" bIns="0" rtlCol="0" anchor="t"/>
          <a:lstStyle/>
          <a:p>
            <a:pPr algn="ctr" indent="0" marL="0">
              <a:lnSpc>
                <a:spcPts val="2300"/>
              </a:lnSpc>
              <a:buNone/>
            </a:pPr>
            <a:r>
              <a:rPr lang="en-US" sz="1600" b="1" dirty="0">
                <a:solidFill>
                  <a:srgbClr val="0E3B4E"/>
                </a:solidFill>
                <a:latin typeface="Yu Gothic" pitchFamily="34" charset="0"/>
                <a:ea typeface="Yu Gothic" pitchFamily="34" charset="-128"/>
                <a:ea typeface="Yu Gothic" pitchFamily="34" charset="-122"/>
                <a:cs typeface="Yu Gothic" pitchFamily="34" charset="-120"/>
              </a:rPr>
              <a:t>電話と予約</a:t>
            </a:r>
            <a:endParaRPr lang="en-US" sz="1600" dirty="0"/>
          </a:p>
        </p:txBody>
      </p:sp>
      <p:sp>
        <p:nvSpPr>
          <p:cNvPr id="9" name="Text 7"/>
          <p:cNvSpPr txBox="1"/>
          <p:nvPr/>
        </p:nvSpPr>
        <p:spPr>
          <a:xfrm>
            <a:off x="731520" y="4279392"/>
            <a:ext cx="1856232" cy="274320"/>
          </a:xfrm>
          <a:prstGeom prst="rect">
            <a:avLst/>
          </a:prstGeom>
          <a:noFill/>
          <a:ln/>
        </p:spPr>
        <p:txBody>
          <a:bodyPr wrap="square" lIns="0" tIns="0" rIns="0" bIns="0" rtlCol="0" anchor="ctr"/>
          <a:lstStyle/>
          <a:p>
            <a:pPr algn="ctr" indent="0" marL="0">
              <a:buNone/>
            </a:pPr>
            <a:r>
              <a:rPr lang="en-US" sz="1200" b="1" dirty="0">
                <a:solidFill>
                  <a:srgbClr val="1F8F68"/>
                </a:solidFill>
                <a:latin typeface="Yu Gothic" pitchFamily="34" charset="0"/>
                <a:ea typeface="Yu Gothic" pitchFamily="34" charset="-128"/>
                <a:ea typeface="Yu Gothic" pitchFamily="34" charset="-122"/>
                <a:cs typeface="Yu Gothic" pitchFamily="34" charset="-120"/>
              </a:rPr>
              <a:t>置き換えられる</a:t>
            </a:r>
            <a:endParaRPr lang="en-US" sz="1200" dirty="0"/>
          </a:p>
        </p:txBody>
      </p:sp>
      <p:sp>
        <p:nvSpPr>
          <p:cNvPr id="10" name="Shape 8"/>
          <p:cNvSpPr/>
          <p:nvPr/>
        </p:nvSpPr>
        <p:spPr>
          <a:xfrm>
            <a:off x="2857500" y="1938528"/>
            <a:ext cx="2039112" cy="3035808"/>
          </a:xfrm>
          <a:prstGeom prst="roundRect">
            <a:avLst>
              <a:gd name="adj" fmla="val 3587"/>
            </a:avLst>
          </a:prstGeom>
          <a:solidFill>
            <a:srgbClr val="FFFFFF"/>
          </a:solidFill>
          <a:ln w="12700">
            <a:solidFill>
              <a:srgbClr val="D2DFE8"/>
            </a:solidFill>
            <a:prstDash val="solid"/>
          </a:ln>
        </p:spPr>
      </p:sp>
      <p:sp>
        <p:nvSpPr>
          <p:cNvPr id="11" name="Shape 9"/>
          <p:cNvSpPr/>
          <p:nvPr/>
        </p:nvSpPr>
        <p:spPr>
          <a:xfrm>
            <a:off x="3639312" y="2212848"/>
            <a:ext cx="475488" cy="475488"/>
          </a:xfrm>
          <a:prstGeom prst="ellipse">
            <a:avLst/>
          </a:prstGeom>
          <a:solidFill>
            <a:srgbClr val="1F8F68"/>
          </a:solidFill>
          <a:ln w="12700">
            <a:solidFill>
              <a:srgbClr val="1F8F68"/>
            </a:solidFill>
            <a:prstDash val="solid"/>
          </a:ln>
        </p:spPr>
      </p:sp>
      <p:sp>
        <p:nvSpPr>
          <p:cNvPr id="12" name="Text 10"/>
          <p:cNvSpPr txBox="1"/>
          <p:nvPr/>
        </p:nvSpPr>
        <p:spPr>
          <a:xfrm>
            <a:off x="3639312" y="22128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8"/>
                <a:ea typeface="Yu Gothic" pitchFamily="34" charset="-122"/>
                <a:cs typeface="Yu Gothic" pitchFamily="34" charset="-120"/>
              </a:rPr>
              <a:t>2</a:t>
            </a:r>
            <a:endParaRPr lang="en-US" sz="1700" dirty="0"/>
          </a:p>
        </p:txBody>
      </p:sp>
      <p:sp>
        <p:nvSpPr>
          <p:cNvPr id="13" name="Text 11"/>
          <p:cNvSpPr txBox="1"/>
          <p:nvPr/>
        </p:nvSpPr>
        <p:spPr>
          <a:xfrm>
            <a:off x="2948940" y="2816352"/>
            <a:ext cx="1856232" cy="274320"/>
          </a:xfrm>
          <a:prstGeom prst="rect">
            <a:avLst/>
          </a:prstGeom>
          <a:noFill/>
          <a:ln/>
        </p:spPr>
        <p:txBody>
          <a:bodyPr wrap="square" lIns="0" tIns="0" rIns="0" bIns="0" rtlCol="0" anchor="ctr"/>
          <a:lstStyle/>
          <a:p>
            <a:pPr algn="ctr" indent="0" marL="0">
              <a:buNone/>
            </a:pPr>
            <a:r>
              <a:rPr lang="en-US" sz="1100" dirty="0">
                <a:solidFill>
                  <a:srgbClr val="5A6C79"/>
                </a:solidFill>
                <a:latin typeface="Yu Gothic" pitchFamily="34" charset="0"/>
                <a:ea typeface="Yu Gothic" pitchFamily="34" charset="-128"/>
                <a:ea typeface="Yu Gothic" pitchFamily="34" charset="-122"/>
                <a:cs typeface="Yu Gothic" pitchFamily="34" charset="-120"/>
              </a:rPr>
              <a:t>受付</a:t>
            </a:r>
            <a:endParaRPr lang="en-US" sz="1100" dirty="0"/>
          </a:p>
        </p:txBody>
      </p:sp>
      <p:sp>
        <p:nvSpPr>
          <p:cNvPr id="14" name="Text 12"/>
          <p:cNvSpPr txBox="1"/>
          <p:nvPr/>
        </p:nvSpPr>
        <p:spPr>
          <a:xfrm>
            <a:off x="2948940" y="3108960"/>
            <a:ext cx="1856232" cy="713232"/>
          </a:xfrm>
          <a:prstGeom prst="rect">
            <a:avLst/>
          </a:prstGeom>
          <a:noFill/>
          <a:ln/>
        </p:spPr>
        <p:txBody>
          <a:bodyPr wrap="square" lIns="0" tIns="0" rIns="0" bIns="0" rtlCol="0" anchor="t"/>
          <a:lstStyle/>
          <a:p>
            <a:pPr algn="ctr" indent="0" marL="0">
              <a:lnSpc>
                <a:spcPts val="2300"/>
              </a:lnSpc>
              <a:buNone/>
            </a:pPr>
            <a:r>
              <a:rPr lang="en-US" sz="1600" b="1" dirty="0">
                <a:solidFill>
                  <a:srgbClr val="0E3B4E"/>
                </a:solidFill>
                <a:latin typeface="Yu Gothic" pitchFamily="34" charset="0"/>
                <a:ea typeface="Yu Gothic" pitchFamily="34" charset="-128"/>
                <a:ea typeface="Yu Gothic" pitchFamily="34" charset="-122"/>
                <a:cs typeface="Yu Gothic" pitchFamily="34" charset="-120"/>
              </a:rPr>
              <a:t>問診と受付事務</a:t>
            </a:r>
            <a:endParaRPr lang="en-US" sz="1600" dirty="0"/>
          </a:p>
        </p:txBody>
      </p:sp>
      <p:sp>
        <p:nvSpPr>
          <p:cNvPr id="15" name="Text 13"/>
          <p:cNvSpPr txBox="1"/>
          <p:nvPr/>
        </p:nvSpPr>
        <p:spPr>
          <a:xfrm>
            <a:off x="2948940" y="4279392"/>
            <a:ext cx="1856232" cy="274320"/>
          </a:xfrm>
          <a:prstGeom prst="rect">
            <a:avLst/>
          </a:prstGeom>
          <a:noFill/>
          <a:ln/>
        </p:spPr>
        <p:txBody>
          <a:bodyPr wrap="square" lIns="0" tIns="0" rIns="0" bIns="0" rtlCol="0" anchor="ctr"/>
          <a:lstStyle/>
          <a:p>
            <a:pPr algn="ctr" indent="0" marL="0">
              <a:buNone/>
            </a:pPr>
            <a:r>
              <a:rPr lang="en-US" sz="1200" b="1" dirty="0">
                <a:solidFill>
                  <a:srgbClr val="1F8F68"/>
                </a:solidFill>
                <a:latin typeface="Yu Gothic" pitchFamily="34" charset="0"/>
                <a:ea typeface="Yu Gothic" pitchFamily="34" charset="-128"/>
                <a:ea typeface="Yu Gothic" pitchFamily="34" charset="-122"/>
                <a:cs typeface="Yu Gothic" pitchFamily="34" charset="-120"/>
              </a:rPr>
              <a:t>置き換えられる</a:t>
            </a:r>
            <a:endParaRPr lang="en-US" sz="1200" dirty="0"/>
          </a:p>
        </p:txBody>
      </p:sp>
      <p:sp>
        <p:nvSpPr>
          <p:cNvPr id="16" name="Shape 14"/>
          <p:cNvSpPr/>
          <p:nvPr/>
        </p:nvSpPr>
        <p:spPr>
          <a:xfrm>
            <a:off x="5074920" y="1938528"/>
            <a:ext cx="2039112" cy="3035808"/>
          </a:xfrm>
          <a:prstGeom prst="roundRect">
            <a:avLst>
              <a:gd name="adj" fmla="val 3587"/>
            </a:avLst>
          </a:prstGeom>
          <a:solidFill>
            <a:srgbClr val="FFFFFF"/>
          </a:solidFill>
          <a:ln w="12700">
            <a:solidFill>
              <a:srgbClr val="D2DFE8"/>
            </a:solidFill>
            <a:prstDash val="solid"/>
          </a:ln>
        </p:spPr>
      </p:sp>
      <p:sp>
        <p:nvSpPr>
          <p:cNvPr id="17" name="Shape 15"/>
          <p:cNvSpPr/>
          <p:nvPr/>
        </p:nvSpPr>
        <p:spPr>
          <a:xfrm>
            <a:off x="5856732" y="2212848"/>
            <a:ext cx="475488" cy="475488"/>
          </a:xfrm>
          <a:prstGeom prst="ellipse">
            <a:avLst/>
          </a:prstGeom>
          <a:solidFill>
            <a:srgbClr val="8F6114"/>
          </a:solidFill>
          <a:ln w="12700">
            <a:solidFill>
              <a:srgbClr val="8F6114"/>
            </a:solidFill>
            <a:prstDash val="solid"/>
          </a:ln>
        </p:spPr>
      </p:sp>
      <p:sp>
        <p:nvSpPr>
          <p:cNvPr id="18" name="Text 16"/>
          <p:cNvSpPr txBox="1"/>
          <p:nvPr/>
        </p:nvSpPr>
        <p:spPr>
          <a:xfrm>
            <a:off x="5856732" y="22128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8"/>
                <a:ea typeface="Yu Gothic" pitchFamily="34" charset="-122"/>
                <a:cs typeface="Yu Gothic" pitchFamily="34" charset="-120"/>
              </a:rPr>
              <a:t>3</a:t>
            </a:r>
            <a:endParaRPr lang="en-US" sz="1700" dirty="0"/>
          </a:p>
        </p:txBody>
      </p:sp>
      <p:sp>
        <p:nvSpPr>
          <p:cNvPr id="19" name="Text 17"/>
          <p:cNvSpPr txBox="1"/>
          <p:nvPr/>
        </p:nvSpPr>
        <p:spPr>
          <a:xfrm>
            <a:off x="5166360" y="2816352"/>
            <a:ext cx="1856232" cy="274320"/>
          </a:xfrm>
          <a:prstGeom prst="rect">
            <a:avLst/>
          </a:prstGeom>
          <a:noFill/>
          <a:ln/>
        </p:spPr>
        <p:txBody>
          <a:bodyPr wrap="square" lIns="0" tIns="0" rIns="0" bIns="0" rtlCol="0" anchor="ctr"/>
          <a:lstStyle/>
          <a:p>
            <a:pPr algn="ctr" indent="0" marL="0">
              <a:buNone/>
            </a:pPr>
            <a:r>
              <a:rPr lang="en-US" sz="1100" dirty="0">
                <a:solidFill>
                  <a:srgbClr val="5A6C79"/>
                </a:solidFill>
                <a:latin typeface="Yu Gothic" pitchFamily="34" charset="0"/>
                <a:ea typeface="Yu Gothic" pitchFamily="34" charset="-128"/>
                <a:ea typeface="Yu Gothic" pitchFamily="34" charset="-122"/>
                <a:cs typeface="Yu Gothic" pitchFamily="34" charset="-120"/>
              </a:rPr>
              <a:t>診察中</a:t>
            </a:r>
            <a:endParaRPr lang="en-US" sz="1100" dirty="0"/>
          </a:p>
        </p:txBody>
      </p:sp>
      <p:sp>
        <p:nvSpPr>
          <p:cNvPr id="20" name="Text 18"/>
          <p:cNvSpPr txBox="1"/>
          <p:nvPr/>
        </p:nvSpPr>
        <p:spPr>
          <a:xfrm>
            <a:off x="5166360" y="3108960"/>
            <a:ext cx="1856232" cy="713232"/>
          </a:xfrm>
          <a:prstGeom prst="rect">
            <a:avLst/>
          </a:prstGeom>
          <a:noFill/>
          <a:ln/>
        </p:spPr>
        <p:txBody>
          <a:bodyPr wrap="square" lIns="0" tIns="0" rIns="0" bIns="0" rtlCol="0" anchor="t"/>
          <a:lstStyle/>
          <a:p>
            <a:pPr algn="ctr" indent="0" marL="0">
              <a:lnSpc>
                <a:spcPts val="2300"/>
              </a:lnSpc>
              <a:buNone/>
            </a:pPr>
            <a:r>
              <a:rPr lang="en-US" sz="1600" b="1" dirty="0">
                <a:solidFill>
                  <a:srgbClr val="0E3B4E"/>
                </a:solidFill>
                <a:latin typeface="Yu Gothic" pitchFamily="34" charset="0"/>
                <a:ea typeface="Yu Gothic" pitchFamily="34" charset="-128"/>
                <a:ea typeface="Yu Gothic" pitchFamily="34" charset="-122"/>
                <a:cs typeface="Yu Gothic" pitchFamily="34" charset="-120"/>
              </a:rPr>
              <a:t>カルテ記録</a:t>
            </a:r>
            <a:endParaRPr lang="en-US" sz="1600" dirty="0"/>
          </a:p>
        </p:txBody>
      </p:sp>
      <p:sp>
        <p:nvSpPr>
          <p:cNvPr id="21" name="Text 19"/>
          <p:cNvSpPr txBox="1"/>
          <p:nvPr/>
        </p:nvSpPr>
        <p:spPr>
          <a:xfrm>
            <a:off x="5166360" y="4279392"/>
            <a:ext cx="1856232" cy="274320"/>
          </a:xfrm>
          <a:prstGeom prst="rect">
            <a:avLst/>
          </a:prstGeom>
          <a:noFill/>
          <a:ln/>
        </p:spPr>
        <p:txBody>
          <a:bodyPr wrap="square" lIns="0" tIns="0" rIns="0" bIns="0" rtlCol="0" anchor="ctr"/>
          <a:lstStyle/>
          <a:p>
            <a:pPr algn="ctr" indent="0" marL="0">
              <a:buNone/>
            </a:pPr>
            <a:r>
              <a:rPr lang="en-US" sz="12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1200" dirty="0"/>
          </a:p>
        </p:txBody>
      </p:sp>
      <p:sp>
        <p:nvSpPr>
          <p:cNvPr id="22" name="Shape 20"/>
          <p:cNvSpPr/>
          <p:nvPr/>
        </p:nvSpPr>
        <p:spPr>
          <a:xfrm>
            <a:off x="7292340" y="1938528"/>
            <a:ext cx="2039112" cy="3035808"/>
          </a:xfrm>
          <a:prstGeom prst="roundRect">
            <a:avLst>
              <a:gd name="adj" fmla="val 3587"/>
            </a:avLst>
          </a:prstGeom>
          <a:solidFill>
            <a:srgbClr val="E3EFF4"/>
          </a:solidFill>
          <a:ln w="12700">
            <a:solidFill>
              <a:srgbClr val="15607F"/>
            </a:solidFill>
            <a:prstDash val="solid"/>
          </a:ln>
        </p:spPr>
      </p:sp>
      <p:sp>
        <p:nvSpPr>
          <p:cNvPr id="23" name="Shape 21"/>
          <p:cNvSpPr/>
          <p:nvPr/>
        </p:nvSpPr>
        <p:spPr>
          <a:xfrm>
            <a:off x="8074152" y="2212848"/>
            <a:ext cx="475488" cy="475488"/>
          </a:xfrm>
          <a:prstGeom prst="ellipse">
            <a:avLst/>
          </a:prstGeom>
          <a:solidFill>
            <a:srgbClr val="8F6114"/>
          </a:solidFill>
          <a:ln w="12700">
            <a:solidFill>
              <a:srgbClr val="8F6114"/>
            </a:solidFill>
            <a:prstDash val="solid"/>
          </a:ln>
        </p:spPr>
      </p:sp>
      <p:sp>
        <p:nvSpPr>
          <p:cNvPr id="24" name="Text 22"/>
          <p:cNvSpPr txBox="1"/>
          <p:nvPr/>
        </p:nvSpPr>
        <p:spPr>
          <a:xfrm>
            <a:off x="8074152" y="22128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8"/>
                <a:ea typeface="Yu Gothic" pitchFamily="34" charset="-122"/>
                <a:cs typeface="Yu Gothic" pitchFamily="34" charset="-120"/>
              </a:rPr>
              <a:t>4</a:t>
            </a:r>
            <a:endParaRPr lang="en-US" sz="1700" dirty="0"/>
          </a:p>
        </p:txBody>
      </p:sp>
      <p:sp>
        <p:nvSpPr>
          <p:cNvPr id="25" name="Text 23"/>
          <p:cNvSpPr txBox="1"/>
          <p:nvPr/>
        </p:nvSpPr>
        <p:spPr>
          <a:xfrm>
            <a:off x="7383780" y="2816352"/>
            <a:ext cx="1856232" cy="274320"/>
          </a:xfrm>
          <a:prstGeom prst="rect">
            <a:avLst/>
          </a:prstGeom>
          <a:noFill/>
          <a:ln/>
        </p:spPr>
        <p:txBody>
          <a:bodyPr wrap="square" lIns="0" tIns="0" rIns="0" bIns="0" rtlCol="0" anchor="ctr"/>
          <a:lstStyle/>
          <a:p>
            <a:pPr algn="ctr" indent="0" marL="0">
              <a:buNone/>
            </a:pPr>
            <a:r>
              <a:rPr lang="en-US" sz="1100" dirty="0">
                <a:solidFill>
                  <a:srgbClr val="5A6C79"/>
                </a:solidFill>
                <a:latin typeface="Yu Gothic" pitchFamily="34" charset="0"/>
                <a:ea typeface="Yu Gothic" pitchFamily="34" charset="-128"/>
                <a:ea typeface="Yu Gothic" pitchFamily="34" charset="-122"/>
                <a:cs typeface="Yu Gothic" pitchFamily="34" charset="-120"/>
              </a:rPr>
              <a:t>診察後</a:t>
            </a:r>
            <a:endParaRPr lang="en-US" sz="1100" dirty="0"/>
          </a:p>
        </p:txBody>
      </p:sp>
      <p:sp>
        <p:nvSpPr>
          <p:cNvPr id="26" name="Text 24"/>
          <p:cNvSpPr txBox="1"/>
          <p:nvPr/>
        </p:nvSpPr>
        <p:spPr>
          <a:xfrm>
            <a:off x="7383780" y="3108960"/>
            <a:ext cx="1856232" cy="713232"/>
          </a:xfrm>
          <a:prstGeom prst="rect">
            <a:avLst/>
          </a:prstGeom>
          <a:noFill/>
          <a:ln/>
        </p:spPr>
        <p:txBody>
          <a:bodyPr wrap="square" lIns="0" tIns="0" rIns="0" bIns="0" rtlCol="0" anchor="t"/>
          <a:lstStyle/>
          <a:p>
            <a:pPr algn="ctr" indent="0" marL="0">
              <a:lnSpc>
                <a:spcPts val="2300"/>
              </a:lnSpc>
              <a:buNone/>
            </a:pPr>
            <a:r>
              <a:rPr lang="en-US" sz="1600" b="1" dirty="0">
                <a:solidFill>
                  <a:srgbClr val="0E3B4E"/>
                </a:solidFill>
                <a:latin typeface="Yu Gothic" pitchFamily="34" charset="0"/>
                <a:ea typeface="Yu Gothic" pitchFamily="34" charset="-128"/>
                <a:ea typeface="Yu Gothic" pitchFamily="34" charset="-122"/>
                <a:cs typeface="Yu Gothic" pitchFamily="34" charset="-120"/>
              </a:rPr>
              <a:t>書類作成</a:t>
            </a:r>
            <a:endParaRPr lang="en-US" sz="1600" dirty="0"/>
          </a:p>
        </p:txBody>
      </p:sp>
      <p:sp>
        <p:nvSpPr>
          <p:cNvPr id="27" name="Text 25"/>
          <p:cNvSpPr txBox="1"/>
          <p:nvPr/>
        </p:nvSpPr>
        <p:spPr>
          <a:xfrm>
            <a:off x="7383780" y="4279392"/>
            <a:ext cx="1856232" cy="274320"/>
          </a:xfrm>
          <a:prstGeom prst="rect">
            <a:avLst/>
          </a:prstGeom>
          <a:noFill/>
          <a:ln/>
        </p:spPr>
        <p:txBody>
          <a:bodyPr wrap="square" lIns="0" tIns="0" rIns="0" bIns="0" rtlCol="0" anchor="ctr"/>
          <a:lstStyle/>
          <a:p>
            <a:pPr algn="ctr" indent="0" marL="0">
              <a:buNone/>
            </a:pPr>
            <a:r>
              <a:rPr lang="en-US" sz="12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1200" dirty="0"/>
          </a:p>
        </p:txBody>
      </p:sp>
      <p:sp>
        <p:nvSpPr>
          <p:cNvPr id="28" name="Text 26"/>
          <p:cNvSpPr txBox="1"/>
          <p:nvPr/>
        </p:nvSpPr>
        <p:spPr>
          <a:xfrm>
            <a:off x="7383780" y="4562856"/>
            <a:ext cx="1856232" cy="256032"/>
          </a:xfrm>
          <a:prstGeom prst="rect">
            <a:avLst/>
          </a:prstGeom>
          <a:noFill/>
          <a:ln/>
        </p:spPr>
        <p:txBody>
          <a:bodyPr wrap="square" lIns="0" tIns="0" rIns="0" bIns="0" rtlCol="0" anchor="ctr"/>
          <a:lstStyle/>
          <a:p>
            <a:pPr algn="ctr" indent="0" marL="0">
              <a:buNone/>
            </a:pPr>
            <a:r>
              <a:rPr lang="en-US" sz="1100" b="1" dirty="0">
                <a:solidFill>
                  <a:srgbClr val="15607F"/>
                </a:solidFill>
                <a:latin typeface="Yu Gothic" pitchFamily="34" charset="0"/>
                <a:ea typeface="Yu Gothic" pitchFamily="34" charset="-128"/>
                <a:ea typeface="Yu Gothic" pitchFamily="34" charset="-122"/>
                <a:cs typeface="Yu Gothic" pitchFamily="34" charset="-120"/>
              </a:rPr>
              <a:t>最も効く</a:t>
            </a:r>
            <a:endParaRPr lang="en-US" sz="1100" dirty="0"/>
          </a:p>
        </p:txBody>
      </p:sp>
      <p:sp>
        <p:nvSpPr>
          <p:cNvPr id="29" name="Shape 27"/>
          <p:cNvSpPr/>
          <p:nvPr/>
        </p:nvSpPr>
        <p:spPr>
          <a:xfrm>
            <a:off x="9509760" y="1938528"/>
            <a:ext cx="2039112" cy="3035808"/>
          </a:xfrm>
          <a:prstGeom prst="roundRect">
            <a:avLst>
              <a:gd name="adj" fmla="val 3587"/>
            </a:avLst>
          </a:prstGeom>
          <a:solidFill>
            <a:srgbClr val="FFFFFF"/>
          </a:solidFill>
          <a:ln w="12700">
            <a:solidFill>
              <a:srgbClr val="D2DFE8"/>
            </a:solidFill>
            <a:prstDash val="solid"/>
          </a:ln>
        </p:spPr>
      </p:sp>
      <p:sp>
        <p:nvSpPr>
          <p:cNvPr id="30" name="Shape 28"/>
          <p:cNvSpPr/>
          <p:nvPr/>
        </p:nvSpPr>
        <p:spPr>
          <a:xfrm>
            <a:off x="10291572" y="2212848"/>
            <a:ext cx="475488" cy="475488"/>
          </a:xfrm>
          <a:prstGeom prst="ellipse">
            <a:avLst/>
          </a:prstGeom>
          <a:solidFill>
            <a:srgbClr val="8F6114"/>
          </a:solidFill>
          <a:ln w="12700">
            <a:solidFill>
              <a:srgbClr val="8F6114"/>
            </a:solidFill>
            <a:prstDash val="solid"/>
          </a:ln>
        </p:spPr>
      </p:sp>
      <p:sp>
        <p:nvSpPr>
          <p:cNvPr id="31" name="Text 29"/>
          <p:cNvSpPr txBox="1"/>
          <p:nvPr/>
        </p:nvSpPr>
        <p:spPr>
          <a:xfrm>
            <a:off x="10291572" y="22128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Yu Gothic" pitchFamily="34" charset="0"/>
                <a:ea typeface="Yu Gothic" pitchFamily="34" charset="-128"/>
                <a:ea typeface="Yu Gothic" pitchFamily="34" charset="-122"/>
                <a:cs typeface="Yu Gothic" pitchFamily="34" charset="-120"/>
              </a:rPr>
              <a:t>5</a:t>
            </a:r>
            <a:endParaRPr lang="en-US" sz="1700" dirty="0"/>
          </a:p>
        </p:txBody>
      </p:sp>
      <p:sp>
        <p:nvSpPr>
          <p:cNvPr id="32" name="Text 30"/>
          <p:cNvSpPr txBox="1"/>
          <p:nvPr/>
        </p:nvSpPr>
        <p:spPr>
          <a:xfrm>
            <a:off x="9601200" y="2816352"/>
            <a:ext cx="1856232" cy="274320"/>
          </a:xfrm>
          <a:prstGeom prst="rect">
            <a:avLst/>
          </a:prstGeom>
          <a:noFill/>
          <a:ln/>
        </p:spPr>
        <p:txBody>
          <a:bodyPr wrap="square" lIns="0" tIns="0" rIns="0" bIns="0" rtlCol="0" anchor="ctr"/>
          <a:lstStyle/>
          <a:p>
            <a:pPr algn="ctr" indent="0" marL="0">
              <a:buNone/>
            </a:pPr>
            <a:r>
              <a:rPr lang="en-US" sz="1100" dirty="0">
                <a:solidFill>
                  <a:srgbClr val="5A6C79"/>
                </a:solidFill>
                <a:latin typeface="Yu Gothic" pitchFamily="34" charset="0"/>
                <a:ea typeface="Yu Gothic" pitchFamily="34" charset="-128"/>
                <a:ea typeface="Yu Gothic" pitchFamily="34" charset="-122"/>
                <a:cs typeface="Yu Gothic" pitchFamily="34" charset="-120"/>
              </a:rPr>
              <a:t>月初</a:t>
            </a:r>
            <a:endParaRPr lang="en-US" sz="1100" dirty="0"/>
          </a:p>
        </p:txBody>
      </p:sp>
      <p:sp>
        <p:nvSpPr>
          <p:cNvPr id="33" name="Text 31"/>
          <p:cNvSpPr txBox="1"/>
          <p:nvPr/>
        </p:nvSpPr>
        <p:spPr>
          <a:xfrm>
            <a:off x="9601200" y="3108960"/>
            <a:ext cx="1856232" cy="713232"/>
          </a:xfrm>
          <a:prstGeom prst="rect">
            <a:avLst/>
          </a:prstGeom>
          <a:noFill/>
          <a:ln/>
        </p:spPr>
        <p:txBody>
          <a:bodyPr wrap="square" lIns="0" tIns="0" rIns="0" bIns="0" rtlCol="0" anchor="t"/>
          <a:lstStyle/>
          <a:p>
            <a:pPr algn="ctr" indent="0" marL="0">
              <a:lnSpc>
                <a:spcPts val="2300"/>
              </a:lnSpc>
              <a:buNone/>
            </a:pPr>
            <a:r>
              <a:rPr lang="en-US" sz="1600" b="1" dirty="0">
                <a:solidFill>
                  <a:srgbClr val="0E3B4E"/>
                </a:solidFill>
                <a:latin typeface="Yu Gothic" pitchFamily="34" charset="0"/>
                <a:ea typeface="Yu Gothic" pitchFamily="34" charset="-128"/>
                <a:ea typeface="Yu Gothic" pitchFamily="34" charset="-122"/>
                <a:cs typeface="Yu Gothic" pitchFamily="34" charset="-120"/>
              </a:rPr>
              <a:t>レセプトと</a:t>
            </a:r>
            <a:endParaRPr lang="en-US" sz="1600" dirty="0"/>
          </a:p>
          <a:p>
            <a:pPr algn="ctr" indent="0" marL="0">
              <a:lnSpc>
                <a:spcPts val="2300"/>
              </a:lnSpc>
              <a:buNone/>
            </a:pPr>
            <a:r>
              <a:rPr lang="en-US" sz="1600" b="1" dirty="0">
                <a:solidFill>
                  <a:srgbClr val="0E3B4E"/>
                </a:solidFill>
                <a:latin typeface="Yu Gothic" pitchFamily="34" charset="0"/>
                <a:ea typeface="Yu Gothic" pitchFamily="34" charset="-128"/>
                <a:ea typeface="Yu Gothic" pitchFamily="34" charset="-122"/>
                <a:cs typeface="Yu Gothic" pitchFamily="34" charset="-120"/>
              </a:rPr>
              <a:t>フォロー</a:t>
            </a:r>
            <a:endParaRPr lang="en-US" sz="1600" dirty="0"/>
          </a:p>
        </p:txBody>
      </p:sp>
      <p:sp>
        <p:nvSpPr>
          <p:cNvPr id="34" name="Text 32"/>
          <p:cNvSpPr txBox="1"/>
          <p:nvPr/>
        </p:nvSpPr>
        <p:spPr>
          <a:xfrm>
            <a:off x="9601200" y="4279392"/>
            <a:ext cx="1856232" cy="274320"/>
          </a:xfrm>
          <a:prstGeom prst="rect">
            <a:avLst/>
          </a:prstGeom>
          <a:noFill/>
          <a:ln/>
        </p:spPr>
        <p:txBody>
          <a:bodyPr wrap="square" lIns="0" tIns="0" rIns="0" bIns="0" rtlCol="0" anchor="ctr"/>
          <a:lstStyle/>
          <a:p>
            <a:pPr algn="ctr" indent="0" marL="0">
              <a:buNone/>
            </a:pPr>
            <a:r>
              <a:rPr lang="en-US" sz="12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1200" dirty="0"/>
          </a:p>
        </p:txBody>
      </p:sp>
      <p:sp>
        <p:nvSpPr>
          <p:cNvPr id="35" name="Text 33"/>
          <p:cNvSpPr txBox="1"/>
          <p:nvPr/>
        </p:nvSpPr>
        <p:spPr>
          <a:xfrm>
            <a:off x="640080" y="5349240"/>
            <a:ext cx="10911535" cy="457200"/>
          </a:xfrm>
          <a:prstGeom prst="rect">
            <a:avLst/>
          </a:prstGeom>
          <a:noFill/>
          <a:ln/>
        </p:spPr>
        <p:txBody>
          <a:bodyPr wrap="square" lIns="0" tIns="0" rIns="0" bIns="0" rtlCol="0" anchor="ctr"/>
          <a:lstStyle/>
          <a:p>
            <a:pPr indent="0" marL="0">
              <a:buNone/>
            </a:pPr>
            <a:r>
              <a:rPr lang="en-US" sz="1400" dirty="0">
                <a:solidFill>
                  <a:srgbClr val="1F2D37"/>
                </a:solidFill>
                <a:latin typeface="Yu Gothic" pitchFamily="34" charset="0"/>
                <a:ea typeface="Yu Gothic" pitchFamily="34" charset="-128"/>
                <a:ea typeface="Yu Gothic" pitchFamily="34" charset="-122"/>
                <a:cs typeface="Yu Gothic" pitchFamily="34" charset="-120"/>
              </a:rPr>
              <a:t>このうち①②は人の手が離れます。③④⑤は下書きまでで、確認と署名は必ず先生の手に残ります。</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0080" y="420624"/>
            <a:ext cx="566928" cy="566928"/>
          </a:xfrm>
          <a:prstGeom prst="ellipse">
            <a:avLst/>
          </a:prstGeom>
          <a:solidFill>
            <a:srgbClr val="1F8F68"/>
          </a:solidFill>
          <a:ln w="12700">
            <a:solidFill>
              <a:srgbClr val="1F8F68"/>
            </a:solidFill>
            <a:prstDash val="solid"/>
          </a:ln>
        </p:spPr>
      </p:sp>
      <p:sp>
        <p:nvSpPr>
          <p:cNvPr id="3" name="Text 1"/>
          <p:cNvSpPr txBox="1"/>
          <p:nvPr/>
        </p:nvSpPr>
        <p:spPr>
          <a:xfrm>
            <a:off x="64008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8"/>
                <a:ea typeface="Yu Gothic" pitchFamily="34" charset="-122"/>
                <a:cs typeface="Yu Gothic" pitchFamily="34" charset="-120"/>
              </a:rPr>
              <a:t>1</a:t>
            </a:r>
            <a:endParaRPr lang="en-US" sz="2000" dirty="0"/>
          </a:p>
        </p:txBody>
      </p:sp>
      <p:sp>
        <p:nvSpPr>
          <p:cNvPr id="4" name="Text 2"/>
          <p:cNvSpPr txBox="1"/>
          <p:nvPr/>
        </p:nvSpPr>
        <p:spPr>
          <a:xfrm>
            <a:off x="1408176" y="384048"/>
            <a:ext cx="3657600" cy="237744"/>
          </a:xfrm>
          <a:prstGeom prst="rect">
            <a:avLst/>
          </a:prstGeom>
          <a:noFill/>
          <a:ln/>
        </p:spPr>
        <p:txBody>
          <a:bodyPr wrap="square" lIns="0" tIns="0" rIns="0" bIns="0" rtlCol="0" anchor="ctr"/>
          <a:lstStyle/>
          <a:p>
            <a:pPr indent="0" marL="0">
              <a:buNone/>
            </a:pPr>
            <a:r>
              <a:rPr lang="en-US" sz="1150" spc="100" kern="0" dirty="0">
                <a:solidFill>
                  <a:srgbClr val="5A6C79"/>
                </a:solidFill>
                <a:latin typeface="Yu Gothic" pitchFamily="34" charset="0"/>
                <a:ea typeface="Yu Gothic" pitchFamily="34" charset="-128"/>
                <a:ea typeface="Yu Gothic" pitchFamily="34" charset="-122"/>
                <a:cs typeface="Yu Gothic" pitchFamily="34" charset="-120"/>
              </a:rPr>
              <a:t>来院前</a:t>
            </a:r>
            <a:endParaRPr lang="en-US" sz="1150" dirty="0"/>
          </a:p>
        </p:txBody>
      </p:sp>
      <p:sp>
        <p:nvSpPr>
          <p:cNvPr id="5" name="Text 3"/>
          <p:cNvSpPr txBox="1"/>
          <p:nvPr/>
        </p:nvSpPr>
        <p:spPr>
          <a:xfrm>
            <a:off x="1408176" y="603504"/>
            <a:ext cx="6858000" cy="457200"/>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電話と予約</a:t>
            </a:r>
            <a:endParaRPr lang="en-US" sz="2900" dirty="0"/>
          </a:p>
        </p:txBody>
      </p:sp>
      <p:sp>
        <p:nvSpPr>
          <p:cNvPr id="6" name="Shape 4"/>
          <p:cNvSpPr/>
          <p:nvPr/>
        </p:nvSpPr>
        <p:spPr>
          <a:xfrm>
            <a:off x="9978847" y="566928"/>
            <a:ext cx="1572768" cy="310896"/>
          </a:xfrm>
          <a:prstGeom prst="roundRect">
            <a:avLst>
              <a:gd name="adj" fmla="val 50000"/>
            </a:avLst>
          </a:prstGeom>
          <a:solidFill>
            <a:srgbClr val="E2F3EC"/>
          </a:solidFill>
          <a:ln w="12700">
            <a:solidFill>
              <a:srgbClr val="E2F3EC"/>
            </a:solidFill>
            <a:prstDash val="solid"/>
          </a:ln>
        </p:spPr>
      </p:sp>
      <p:sp>
        <p:nvSpPr>
          <p:cNvPr id="7" name="Text 5"/>
          <p:cNvSpPr txBox="1"/>
          <p:nvPr/>
        </p:nvSpPr>
        <p:spPr>
          <a:xfrm>
            <a:off x="9978847" y="566928"/>
            <a:ext cx="1572768" cy="310896"/>
          </a:xfrm>
          <a:prstGeom prst="rect">
            <a:avLst/>
          </a:prstGeom>
          <a:noFill/>
          <a:ln/>
        </p:spPr>
        <p:txBody>
          <a:bodyPr wrap="square" lIns="0" tIns="0" rIns="0" bIns="0" rtlCol="0" anchor="ctr"/>
          <a:lstStyle/>
          <a:p>
            <a:pPr algn="ctr" indent="0" marL="0">
              <a:buNone/>
            </a:pPr>
            <a:r>
              <a:rPr lang="en-US" sz="1200" b="1" dirty="0">
                <a:solidFill>
                  <a:srgbClr val="1F8F68"/>
                </a:solidFill>
                <a:latin typeface="Yu Gothic" pitchFamily="34" charset="0"/>
                <a:ea typeface="Yu Gothic" pitchFamily="34" charset="-128"/>
                <a:ea typeface="Yu Gothic" pitchFamily="34" charset="-122"/>
                <a:cs typeface="Yu Gothic" pitchFamily="34" charset="-120"/>
              </a:rPr>
              <a:t>置き換えられる</a:t>
            </a:r>
            <a:endParaRPr lang="en-US" sz="1200" dirty="0"/>
          </a:p>
        </p:txBody>
      </p:sp>
      <p:sp>
        <p:nvSpPr>
          <p:cNvPr id="8" name="Text 6"/>
          <p:cNvSpPr txBox="1"/>
          <p:nvPr/>
        </p:nvSpPr>
        <p:spPr>
          <a:xfrm>
            <a:off x="640080" y="1481328"/>
            <a:ext cx="5120640" cy="256032"/>
          </a:xfrm>
          <a:prstGeom prst="rect">
            <a:avLst/>
          </a:prstGeom>
          <a:noFill/>
          <a:ln/>
        </p:spPr>
        <p:txBody>
          <a:bodyPr wrap="square" lIns="0" tIns="0" rIns="0" bIns="0" rtlCol="0" anchor="ctr"/>
          <a:lstStyle/>
          <a:p>
            <a:pPr indent="0" marL="0">
              <a:buNone/>
            </a:pPr>
            <a:r>
              <a:rPr lang="en-US" sz="1150" b="1" spc="120" kern="0" dirty="0">
                <a:solidFill>
                  <a:srgbClr val="5A6C79"/>
                </a:solidFill>
                <a:latin typeface="Yu Gothic" pitchFamily="34" charset="0"/>
                <a:ea typeface="Yu Gothic" pitchFamily="34" charset="-128"/>
                <a:ea typeface="Yu Gothic" pitchFamily="34" charset="-122"/>
                <a:cs typeface="Yu Gothic" pitchFamily="34" charset="-120"/>
              </a:rPr>
              <a:t>いま起きていること</a:t>
            </a:r>
            <a:endParaRPr lang="en-US" sz="1150" dirty="0"/>
          </a:p>
        </p:txBody>
      </p:sp>
      <p:sp>
        <p:nvSpPr>
          <p:cNvPr id="9" name="Text 7"/>
          <p:cNvSpPr txBox="1"/>
          <p:nvPr/>
        </p:nvSpPr>
        <p:spPr>
          <a:xfrm>
            <a:off x="640080"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診察中も予約や問い合わせの電話が鳴り、受付の手が止まります。昼休みと診療後に折り返しが溜まり、繋がらなかった患者さんは他院にかけ直します。</a:t>
            </a:r>
            <a:endParaRPr lang="en-US" sz="1450" dirty="0"/>
          </a:p>
        </p:txBody>
      </p:sp>
      <p:sp>
        <p:nvSpPr>
          <p:cNvPr id="10" name="Text 8"/>
          <p:cNvSpPr txBox="1"/>
          <p:nvPr/>
        </p:nvSpPr>
        <p:spPr>
          <a:xfrm>
            <a:off x="6428232" y="1481328"/>
            <a:ext cx="5120640" cy="256032"/>
          </a:xfrm>
          <a:prstGeom prst="rect">
            <a:avLst/>
          </a:prstGeom>
          <a:noFill/>
          <a:ln/>
        </p:spPr>
        <p:txBody>
          <a:bodyPr wrap="square" lIns="0" tIns="0" rIns="0" bIns="0" rtlCol="0" anchor="ctr"/>
          <a:lstStyle/>
          <a:p>
            <a:pPr indent="0" marL="0">
              <a:buNone/>
            </a:pPr>
            <a:r>
              <a:rPr lang="en-US" sz="1150" b="1" spc="120" kern="0" dirty="0">
                <a:solidFill>
                  <a:srgbClr val="15607F"/>
                </a:solidFill>
                <a:latin typeface="Yu Gothic" pitchFamily="34" charset="0"/>
                <a:ea typeface="Yu Gothic" pitchFamily="34" charset="-128"/>
                <a:ea typeface="Yu Gothic" pitchFamily="34" charset="-122"/>
                <a:cs typeface="Yu Gothic" pitchFamily="34" charset="-120"/>
              </a:rPr>
              <a:t>AIでできること</a:t>
            </a:r>
            <a:endParaRPr lang="en-US" sz="1150" dirty="0"/>
          </a:p>
        </p:txBody>
      </p:sp>
      <p:sp>
        <p:nvSpPr>
          <p:cNvPr id="11" name="Text 9"/>
          <p:cNvSpPr txBox="1"/>
          <p:nvPr/>
        </p:nvSpPr>
        <p:spPr>
          <a:xfrm>
            <a:off x="6428232"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予約、休診日、持ち物、駐車場、道順といった定型の問い合わせに、AIが24時間自動で応対します。用件は文字起こしと要約で残るので、人が見るのは折り返しが要るものだけになります。</a:t>
            </a:r>
            <a:endParaRPr lang="en-US" sz="1450" dirty="0"/>
          </a:p>
        </p:txBody>
      </p:sp>
      <p:sp>
        <p:nvSpPr>
          <p:cNvPr id="12" name="Shape 10"/>
          <p:cNvSpPr/>
          <p:nvPr/>
        </p:nvSpPr>
        <p:spPr>
          <a:xfrm>
            <a:off x="640080" y="3310128"/>
            <a:ext cx="10911535" cy="914400"/>
          </a:xfrm>
          <a:prstGeom prst="roundRect">
            <a:avLst>
              <a:gd name="adj" fmla="val 8000"/>
            </a:avLst>
          </a:prstGeom>
          <a:solidFill>
            <a:srgbClr val="F1F5F8"/>
          </a:solidFill>
          <a:ln w="12700">
            <a:solidFill>
              <a:srgbClr val="F1F5F8"/>
            </a:solidFill>
            <a:prstDash val="solid"/>
          </a:ln>
        </p:spPr>
      </p:sp>
      <p:sp>
        <p:nvSpPr>
          <p:cNvPr id="13" name="Text 11"/>
          <p:cNvSpPr txBox="1"/>
          <p:nvPr/>
        </p:nvSpPr>
        <p:spPr>
          <a:xfrm>
            <a:off x="914400" y="3465576"/>
            <a:ext cx="10362895" cy="603504"/>
          </a:xfrm>
          <a:prstGeom prst="rect">
            <a:avLst/>
          </a:prstGeom>
          <a:noFill/>
          <a:ln/>
        </p:spPr>
        <p:txBody>
          <a:bodyPr wrap="square" lIns="0" tIns="0" rIns="0" bIns="0" rtlCol="0" anchor="t"/>
          <a:lstStyle/>
          <a:p>
            <a:pPr indent="0" marL="0">
              <a:lnSpc>
                <a:spcPts val="2100"/>
              </a:lnSpc>
              <a:buNone/>
            </a:pPr>
            <a:r>
              <a:rPr lang="en-US" sz="1350" b="1" dirty="0">
                <a:solidFill>
                  <a:srgbClr val="0E3B4E"/>
                </a:solidFill>
                <a:latin typeface="Yu Gothic" pitchFamily="34" charset="0"/>
                <a:ea typeface="Yu Gothic" pitchFamily="34" charset="-128"/>
                <a:ea typeface="Yu Gothic" pitchFamily="34" charset="-122"/>
                <a:cs typeface="Yu Gothic" pitchFamily="34" charset="-120"/>
              </a:rPr>
              <a:t>手段</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既製のAI電話応対サービスを使います。電話工事は不要で、いまの番号を転送するだけで始められます。費用は月数千円から。</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420624"/>
            <a:ext cx="566928" cy="566928"/>
          </a:xfrm>
          <a:prstGeom prst="ellipse">
            <a:avLst/>
          </a:prstGeom>
          <a:solidFill>
            <a:srgbClr val="1F8F68"/>
          </a:solidFill>
          <a:ln w="12700">
            <a:solidFill>
              <a:srgbClr val="1F8F68"/>
            </a:solidFill>
            <a:prstDash val="solid"/>
          </a:ln>
        </p:spPr>
      </p:sp>
      <p:sp>
        <p:nvSpPr>
          <p:cNvPr id="3" name="Text 1"/>
          <p:cNvSpPr txBox="1"/>
          <p:nvPr/>
        </p:nvSpPr>
        <p:spPr>
          <a:xfrm>
            <a:off x="64008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8"/>
                <a:ea typeface="Yu Gothic" pitchFamily="34" charset="-122"/>
                <a:cs typeface="Yu Gothic" pitchFamily="34" charset="-120"/>
              </a:rPr>
              <a:t>2</a:t>
            </a:r>
            <a:endParaRPr lang="en-US" sz="2000" dirty="0"/>
          </a:p>
        </p:txBody>
      </p:sp>
      <p:sp>
        <p:nvSpPr>
          <p:cNvPr id="4" name="Text 2"/>
          <p:cNvSpPr txBox="1"/>
          <p:nvPr/>
        </p:nvSpPr>
        <p:spPr>
          <a:xfrm>
            <a:off x="1408176" y="384048"/>
            <a:ext cx="3657600" cy="237744"/>
          </a:xfrm>
          <a:prstGeom prst="rect">
            <a:avLst/>
          </a:prstGeom>
          <a:noFill/>
          <a:ln/>
        </p:spPr>
        <p:txBody>
          <a:bodyPr wrap="square" lIns="0" tIns="0" rIns="0" bIns="0" rtlCol="0" anchor="ctr"/>
          <a:lstStyle/>
          <a:p>
            <a:pPr indent="0" marL="0">
              <a:buNone/>
            </a:pPr>
            <a:r>
              <a:rPr lang="en-US" sz="1150" spc="100" kern="0" dirty="0">
                <a:solidFill>
                  <a:srgbClr val="5A6C79"/>
                </a:solidFill>
                <a:latin typeface="Yu Gothic" pitchFamily="34" charset="0"/>
                <a:ea typeface="Yu Gothic" pitchFamily="34" charset="-128"/>
                <a:ea typeface="Yu Gothic" pitchFamily="34" charset="-122"/>
                <a:cs typeface="Yu Gothic" pitchFamily="34" charset="-120"/>
              </a:rPr>
              <a:t>受付</a:t>
            </a:r>
            <a:endParaRPr lang="en-US" sz="1150" dirty="0"/>
          </a:p>
        </p:txBody>
      </p:sp>
      <p:sp>
        <p:nvSpPr>
          <p:cNvPr id="5" name="Text 3"/>
          <p:cNvSpPr txBox="1"/>
          <p:nvPr/>
        </p:nvSpPr>
        <p:spPr>
          <a:xfrm>
            <a:off x="1408176" y="603504"/>
            <a:ext cx="6858000" cy="457200"/>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問診と受付事務</a:t>
            </a:r>
            <a:endParaRPr lang="en-US" sz="2900" dirty="0"/>
          </a:p>
        </p:txBody>
      </p:sp>
      <p:sp>
        <p:nvSpPr>
          <p:cNvPr id="6" name="Shape 4"/>
          <p:cNvSpPr/>
          <p:nvPr/>
        </p:nvSpPr>
        <p:spPr>
          <a:xfrm>
            <a:off x="9978847" y="566928"/>
            <a:ext cx="1572768" cy="310896"/>
          </a:xfrm>
          <a:prstGeom prst="roundRect">
            <a:avLst>
              <a:gd name="adj" fmla="val 50000"/>
            </a:avLst>
          </a:prstGeom>
          <a:solidFill>
            <a:srgbClr val="E2F3EC"/>
          </a:solidFill>
          <a:ln w="12700">
            <a:solidFill>
              <a:srgbClr val="E2F3EC"/>
            </a:solidFill>
            <a:prstDash val="solid"/>
          </a:ln>
        </p:spPr>
      </p:sp>
      <p:sp>
        <p:nvSpPr>
          <p:cNvPr id="7" name="Text 5"/>
          <p:cNvSpPr txBox="1"/>
          <p:nvPr/>
        </p:nvSpPr>
        <p:spPr>
          <a:xfrm>
            <a:off x="9978847" y="566928"/>
            <a:ext cx="1572768" cy="310896"/>
          </a:xfrm>
          <a:prstGeom prst="rect">
            <a:avLst/>
          </a:prstGeom>
          <a:noFill/>
          <a:ln/>
        </p:spPr>
        <p:txBody>
          <a:bodyPr wrap="square" lIns="0" tIns="0" rIns="0" bIns="0" rtlCol="0" anchor="ctr"/>
          <a:lstStyle/>
          <a:p>
            <a:pPr algn="ctr" indent="0" marL="0">
              <a:buNone/>
            </a:pPr>
            <a:r>
              <a:rPr lang="en-US" sz="1200" b="1" dirty="0">
                <a:solidFill>
                  <a:srgbClr val="1F8F68"/>
                </a:solidFill>
                <a:latin typeface="Yu Gothic" pitchFamily="34" charset="0"/>
                <a:ea typeface="Yu Gothic" pitchFamily="34" charset="-128"/>
                <a:ea typeface="Yu Gothic" pitchFamily="34" charset="-122"/>
                <a:cs typeface="Yu Gothic" pitchFamily="34" charset="-120"/>
              </a:rPr>
              <a:t>置き換えられる</a:t>
            </a:r>
            <a:endParaRPr lang="en-US" sz="1200" dirty="0"/>
          </a:p>
        </p:txBody>
      </p:sp>
      <p:sp>
        <p:nvSpPr>
          <p:cNvPr id="8" name="Text 6"/>
          <p:cNvSpPr txBox="1"/>
          <p:nvPr/>
        </p:nvSpPr>
        <p:spPr>
          <a:xfrm>
            <a:off x="640080" y="1481328"/>
            <a:ext cx="5120640" cy="256032"/>
          </a:xfrm>
          <a:prstGeom prst="rect">
            <a:avLst/>
          </a:prstGeom>
          <a:noFill/>
          <a:ln/>
        </p:spPr>
        <p:txBody>
          <a:bodyPr wrap="square" lIns="0" tIns="0" rIns="0" bIns="0" rtlCol="0" anchor="ctr"/>
          <a:lstStyle/>
          <a:p>
            <a:pPr indent="0" marL="0">
              <a:buNone/>
            </a:pPr>
            <a:r>
              <a:rPr lang="en-US" sz="1150" b="1" spc="120" kern="0" dirty="0">
                <a:solidFill>
                  <a:srgbClr val="5A6C79"/>
                </a:solidFill>
                <a:latin typeface="Yu Gothic" pitchFamily="34" charset="0"/>
                <a:ea typeface="Yu Gothic" pitchFamily="34" charset="-128"/>
                <a:ea typeface="Yu Gothic" pitchFamily="34" charset="-122"/>
                <a:cs typeface="Yu Gothic" pitchFamily="34" charset="-120"/>
              </a:rPr>
              <a:t>いま起きていること</a:t>
            </a:r>
            <a:endParaRPr lang="en-US" sz="1150" dirty="0"/>
          </a:p>
        </p:txBody>
      </p:sp>
      <p:sp>
        <p:nvSpPr>
          <p:cNvPr id="9" name="Text 7"/>
          <p:cNvSpPr txBox="1"/>
          <p:nvPr/>
        </p:nvSpPr>
        <p:spPr>
          <a:xfrm>
            <a:off x="640080"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紙の問診票を渡し、書いてもらい、読み取り、足りないところを口頭で聞き、カルテに打ち直します。同じ情報を二度扱っています。</a:t>
            </a:r>
            <a:endParaRPr lang="en-US" sz="1450" dirty="0"/>
          </a:p>
        </p:txBody>
      </p:sp>
      <p:sp>
        <p:nvSpPr>
          <p:cNvPr id="10" name="Text 8"/>
          <p:cNvSpPr txBox="1"/>
          <p:nvPr/>
        </p:nvSpPr>
        <p:spPr>
          <a:xfrm>
            <a:off x="6428232" y="1481328"/>
            <a:ext cx="5120640" cy="256032"/>
          </a:xfrm>
          <a:prstGeom prst="rect">
            <a:avLst/>
          </a:prstGeom>
          <a:noFill/>
          <a:ln/>
        </p:spPr>
        <p:txBody>
          <a:bodyPr wrap="square" lIns="0" tIns="0" rIns="0" bIns="0" rtlCol="0" anchor="ctr"/>
          <a:lstStyle/>
          <a:p>
            <a:pPr indent="0" marL="0">
              <a:buNone/>
            </a:pPr>
            <a:r>
              <a:rPr lang="en-US" sz="1150" b="1" spc="120" kern="0" dirty="0">
                <a:solidFill>
                  <a:srgbClr val="15607F"/>
                </a:solidFill>
                <a:latin typeface="Yu Gothic" pitchFamily="34" charset="0"/>
                <a:ea typeface="Yu Gothic" pitchFamily="34" charset="-128"/>
                <a:ea typeface="Yu Gothic" pitchFamily="34" charset="-122"/>
                <a:cs typeface="Yu Gothic" pitchFamily="34" charset="-120"/>
              </a:rPr>
              <a:t>AIでできること</a:t>
            </a:r>
            <a:endParaRPr lang="en-US" sz="1150" dirty="0"/>
          </a:p>
        </p:txBody>
      </p:sp>
      <p:sp>
        <p:nvSpPr>
          <p:cNvPr id="11" name="Text 9"/>
          <p:cNvSpPr txBox="1"/>
          <p:nvPr/>
        </p:nvSpPr>
        <p:spPr>
          <a:xfrm>
            <a:off x="6428232"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来院前にスマホで問診を済ませてもらいます。AIが患者さんの答えに応じて次の質問を変えるので、紙の定型問診より深く聞けます。診察室には要約が届き、転記という作業そのものが消えます。</a:t>
            </a:r>
            <a:endParaRPr lang="en-US" sz="1450" dirty="0"/>
          </a:p>
        </p:txBody>
      </p:sp>
      <p:sp>
        <p:nvSpPr>
          <p:cNvPr id="12" name="Shape 10"/>
          <p:cNvSpPr/>
          <p:nvPr/>
        </p:nvSpPr>
        <p:spPr>
          <a:xfrm>
            <a:off x="640080" y="3310128"/>
            <a:ext cx="10911535" cy="914400"/>
          </a:xfrm>
          <a:prstGeom prst="roundRect">
            <a:avLst>
              <a:gd name="adj" fmla="val 8000"/>
            </a:avLst>
          </a:prstGeom>
          <a:solidFill>
            <a:srgbClr val="F1F5F8"/>
          </a:solidFill>
          <a:ln w="12700">
            <a:solidFill>
              <a:srgbClr val="F1F5F8"/>
            </a:solidFill>
            <a:prstDash val="solid"/>
          </a:ln>
        </p:spPr>
      </p:sp>
      <p:sp>
        <p:nvSpPr>
          <p:cNvPr id="13" name="Text 11"/>
          <p:cNvSpPr txBox="1"/>
          <p:nvPr/>
        </p:nvSpPr>
        <p:spPr>
          <a:xfrm>
            <a:off x="914400" y="3465576"/>
            <a:ext cx="10362895" cy="603504"/>
          </a:xfrm>
          <a:prstGeom prst="rect">
            <a:avLst/>
          </a:prstGeom>
          <a:noFill/>
          <a:ln/>
        </p:spPr>
        <p:txBody>
          <a:bodyPr wrap="square" lIns="0" tIns="0" rIns="0" bIns="0" rtlCol="0" anchor="t"/>
          <a:lstStyle/>
          <a:p>
            <a:pPr indent="0" marL="0">
              <a:lnSpc>
                <a:spcPts val="2100"/>
              </a:lnSpc>
              <a:buNone/>
            </a:pPr>
            <a:r>
              <a:rPr lang="en-US" sz="1350" b="1" dirty="0">
                <a:solidFill>
                  <a:srgbClr val="0E3B4E"/>
                </a:solidFill>
                <a:latin typeface="Yu Gothic" pitchFamily="34" charset="0"/>
                <a:ea typeface="Yu Gothic" pitchFamily="34" charset="-128"/>
                <a:ea typeface="Yu Gothic" pitchFamily="34" charset="-122"/>
                <a:cs typeface="Yu Gothic" pitchFamily="34" charset="-120"/>
              </a:rPr>
              <a:t>手段</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Web問診・AI問診サービス。電子カルテに連携できる製品もあります。マイナ保険証での資格確認、自動精算機と組み合わせると、受付の立ち仕事がさらに減ります。</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420624"/>
            <a:ext cx="566928" cy="566928"/>
          </a:xfrm>
          <a:prstGeom prst="ellipse">
            <a:avLst/>
          </a:prstGeom>
          <a:solidFill>
            <a:srgbClr val="8F6114"/>
          </a:solidFill>
          <a:ln w="12700">
            <a:solidFill>
              <a:srgbClr val="8F6114"/>
            </a:solidFill>
            <a:prstDash val="solid"/>
          </a:ln>
        </p:spPr>
      </p:sp>
      <p:sp>
        <p:nvSpPr>
          <p:cNvPr id="3" name="Text 1"/>
          <p:cNvSpPr txBox="1"/>
          <p:nvPr/>
        </p:nvSpPr>
        <p:spPr>
          <a:xfrm>
            <a:off x="64008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8"/>
                <a:ea typeface="Yu Gothic" pitchFamily="34" charset="-122"/>
                <a:cs typeface="Yu Gothic" pitchFamily="34" charset="-120"/>
              </a:rPr>
              <a:t>3</a:t>
            </a:r>
            <a:endParaRPr lang="en-US" sz="2000" dirty="0"/>
          </a:p>
        </p:txBody>
      </p:sp>
      <p:sp>
        <p:nvSpPr>
          <p:cNvPr id="4" name="Text 2"/>
          <p:cNvSpPr txBox="1"/>
          <p:nvPr/>
        </p:nvSpPr>
        <p:spPr>
          <a:xfrm>
            <a:off x="1408176" y="384048"/>
            <a:ext cx="3657600" cy="237744"/>
          </a:xfrm>
          <a:prstGeom prst="rect">
            <a:avLst/>
          </a:prstGeom>
          <a:noFill/>
          <a:ln/>
        </p:spPr>
        <p:txBody>
          <a:bodyPr wrap="square" lIns="0" tIns="0" rIns="0" bIns="0" rtlCol="0" anchor="ctr"/>
          <a:lstStyle/>
          <a:p>
            <a:pPr indent="0" marL="0">
              <a:buNone/>
            </a:pPr>
            <a:r>
              <a:rPr lang="en-US" sz="1150" spc="100" kern="0" dirty="0">
                <a:solidFill>
                  <a:srgbClr val="5A6C79"/>
                </a:solidFill>
                <a:latin typeface="Yu Gothic" pitchFamily="34" charset="0"/>
                <a:ea typeface="Yu Gothic" pitchFamily="34" charset="-128"/>
                <a:ea typeface="Yu Gothic" pitchFamily="34" charset="-122"/>
                <a:cs typeface="Yu Gothic" pitchFamily="34" charset="-120"/>
              </a:rPr>
              <a:t>診察中</a:t>
            </a:r>
            <a:endParaRPr lang="en-US" sz="1150" dirty="0"/>
          </a:p>
        </p:txBody>
      </p:sp>
      <p:sp>
        <p:nvSpPr>
          <p:cNvPr id="5" name="Text 3"/>
          <p:cNvSpPr txBox="1"/>
          <p:nvPr/>
        </p:nvSpPr>
        <p:spPr>
          <a:xfrm>
            <a:off x="1408176" y="603504"/>
            <a:ext cx="6858000" cy="457200"/>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カルテ記録</a:t>
            </a:r>
            <a:endParaRPr lang="en-US" sz="2900" dirty="0"/>
          </a:p>
        </p:txBody>
      </p:sp>
      <p:sp>
        <p:nvSpPr>
          <p:cNvPr id="6" name="Shape 4"/>
          <p:cNvSpPr/>
          <p:nvPr/>
        </p:nvSpPr>
        <p:spPr>
          <a:xfrm>
            <a:off x="10271455" y="566928"/>
            <a:ext cx="1280160" cy="310896"/>
          </a:xfrm>
          <a:prstGeom prst="roundRect">
            <a:avLst>
              <a:gd name="adj" fmla="val 50000"/>
            </a:avLst>
          </a:prstGeom>
          <a:solidFill>
            <a:srgbClr val="F8EEDC"/>
          </a:solidFill>
          <a:ln w="12700">
            <a:solidFill>
              <a:srgbClr val="F8EEDC"/>
            </a:solidFill>
            <a:prstDash val="solid"/>
          </a:ln>
        </p:spPr>
      </p:sp>
      <p:sp>
        <p:nvSpPr>
          <p:cNvPr id="7" name="Text 5"/>
          <p:cNvSpPr txBox="1"/>
          <p:nvPr/>
        </p:nvSpPr>
        <p:spPr>
          <a:xfrm>
            <a:off x="10271455" y="566928"/>
            <a:ext cx="1280160" cy="310896"/>
          </a:xfrm>
          <a:prstGeom prst="rect">
            <a:avLst/>
          </a:prstGeom>
          <a:noFill/>
          <a:ln/>
        </p:spPr>
        <p:txBody>
          <a:bodyPr wrap="square" lIns="0" tIns="0" rIns="0" bIns="0" rtlCol="0" anchor="ctr"/>
          <a:lstStyle/>
          <a:p>
            <a:pPr algn="ctr" indent="0" marL="0">
              <a:buNone/>
            </a:pPr>
            <a:r>
              <a:rPr lang="en-US" sz="12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1200" dirty="0"/>
          </a:p>
        </p:txBody>
      </p:sp>
      <p:sp>
        <p:nvSpPr>
          <p:cNvPr id="8" name="Text 6"/>
          <p:cNvSpPr txBox="1"/>
          <p:nvPr/>
        </p:nvSpPr>
        <p:spPr>
          <a:xfrm>
            <a:off x="640080" y="1481328"/>
            <a:ext cx="5120640" cy="256032"/>
          </a:xfrm>
          <a:prstGeom prst="rect">
            <a:avLst/>
          </a:prstGeom>
          <a:noFill/>
          <a:ln/>
        </p:spPr>
        <p:txBody>
          <a:bodyPr wrap="square" lIns="0" tIns="0" rIns="0" bIns="0" rtlCol="0" anchor="ctr"/>
          <a:lstStyle/>
          <a:p>
            <a:pPr indent="0" marL="0">
              <a:buNone/>
            </a:pPr>
            <a:r>
              <a:rPr lang="en-US" sz="1150" b="1" spc="120" kern="0" dirty="0">
                <a:solidFill>
                  <a:srgbClr val="5A6C79"/>
                </a:solidFill>
                <a:latin typeface="Yu Gothic" pitchFamily="34" charset="0"/>
                <a:ea typeface="Yu Gothic" pitchFamily="34" charset="-128"/>
                <a:ea typeface="Yu Gothic" pitchFamily="34" charset="-122"/>
                <a:cs typeface="Yu Gothic" pitchFamily="34" charset="-120"/>
              </a:rPr>
              <a:t>いま起きていること</a:t>
            </a:r>
            <a:endParaRPr lang="en-US" sz="1150" dirty="0"/>
          </a:p>
        </p:txBody>
      </p:sp>
      <p:sp>
        <p:nvSpPr>
          <p:cNvPr id="9" name="Text 7"/>
          <p:cNvSpPr txBox="1"/>
          <p:nvPr/>
        </p:nvSpPr>
        <p:spPr>
          <a:xfrm>
            <a:off x="640080"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患者さんを診ながらキーボードを打ちます。画面を見ている時間が、相手を見る時間を削っています。</a:t>
            </a:r>
            <a:endParaRPr lang="en-US" sz="1450" dirty="0"/>
          </a:p>
        </p:txBody>
      </p:sp>
      <p:sp>
        <p:nvSpPr>
          <p:cNvPr id="10" name="Text 8"/>
          <p:cNvSpPr txBox="1"/>
          <p:nvPr/>
        </p:nvSpPr>
        <p:spPr>
          <a:xfrm>
            <a:off x="6428232" y="1481328"/>
            <a:ext cx="5120640" cy="256032"/>
          </a:xfrm>
          <a:prstGeom prst="rect">
            <a:avLst/>
          </a:prstGeom>
          <a:noFill/>
          <a:ln/>
        </p:spPr>
        <p:txBody>
          <a:bodyPr wrap="square" lIns="0" tIns="0" rIns="0" bIns="0" rtlCol="0" anchor="ctr"/>
          <a:lstStyle/>
          <a:p>
            <a:pPr indent="0" marL="0">
              <a:buNone/>
            </a:pPr>
            <a:r>
              <a:rPr lang="en-US" sz="1150" b="1" spc="120" kern="0" dirty="0">
                <a:solidFill>
                  <a:srgbClr val="15607F"/>
                </a:solidFill>
                <a:latin typeface="Yu Gothic" pitchFamily="34" charset="0"/>
                <a:ea typeface="Yu Gothic" pitchFamily="34" charset="-128"/>
                <a:ea typeface="Yu Gothic" pitchFamily="34" charset="-122"/>
                <a:cs typeface="Yu Gothic" pitchFamily="34" charset="-120"/>
              </a:rPr>
              <a:t>AIでできること</a:t>
            </a:r>
            <a:endParaRPr lang="en-US" sz="1150" dirty="0"/>
          </a:p>
        </p:txBody>
      </p:sp>
      <p:sp>
        <p:nvSpPr>
          <p:cNvPr id="11" name="Text 9"/>
          <p:cNvSpPr txBox="1"/>
          <p:nvPr/>
        </p:nvSpPr>
        <p:spPr>
          <a:xfrm>
            <a:off x="6428232"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診察中の会話を拾って、SOAP形式のカルテ下書きを作ります。先生は打つのではなく、できた文章を直す側に回ります。</a:t>
            </a:r>
            <a:endParaRPr lang="en-US" sz="1450" dirty="0"/>
          </a:p>
        </p:txBody>
      </p:sp>
      <p:sp>
        <p:nvSpPr>
          <p:cNvPr id="12" name="Shape 10"/>
          <p:cNvSpPr/>
          <p:nvPr/>
        </p:nvSpPr>
        <p:spPr>
          <a:xfrm>
            <a:off x="640080" y="3310128"/>
            <a:ext cx="10911535" cy="749808"/>
          </a:xfrm>
          <a:prstGeom prst="roundRect">
            <a:avLst>
              <a:gd name="adj" fmla="val 9756"/>
            </a:avLst>
          </a:prstGeom>
          <a:solidFill>
            <a:srgbClr val="F1F5F8"/>
          </a:solidFill>
          <a:ln w="12700">
            <a:solidFill>
              <a:srgbClr val="F1F5F8"/>
            </a:solidFill>
            <a:prstDash val="solid"/>
          </a:ln>
        </p:spPr>
      </p:sp>
      <p:sp>
        <p:nvSpPr>
          <p:cNvPr id="13" name="Text 11"/>
          <p:cNvSpPr txBox="1"/>
          <p:nvPr/>
        </p:nvSpPr>
        <p:spPr>
          <a:xfrm>
            <a:off x="914400" y="3465576"/>
            <a:ext cx="10362895" cy="438912"/>
          </a:xfrm>
          <a:prstGeom prst="rect">
            <a:avLst/>
          </a:prstGeom>
          <a:noFill/>
          <a:ln/>
        </p:spPr>
        <p:txBody>
          <a:bodyPr wrap="square" lIns="0" tIns="0" rIns="0" bIns="0" rtlCol="0" anchor="t"/>
          <a:lstStyle/>
          <a:p>
            <a:pPr indent="0" marL="0">
              <a:lnSpc>
                <a:spcPts val="2100"/>
              </a:lnSpc>
              <a:buNone/>
            </a:pPr>
            <a:r>
              <a:rPr lang="en-US" sz="1350" b="1" dirty="0">
                <a:solidFill>
                  <a:srgbClr val="0E3B4E"/>
                </a:solidFill>
                <a:latin typeface="Yu Gothic" pitchFamily="34" charset="0"/>
                <a:ea typeface="Yu Gothic" pitchFamily="34" charset="-128"/>
                <a:ea typeface="Yu Gothic" pitchFamily="34" charset="-122"/>
                <a:cs typeface="Yu Gothic" pitchFamily="34" charset="-120"/>
              </a:rPr>
              <a:t>手段</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医療用語に特化した音声認識(アンビエントスクライブ)を使います。汎用の文字起こしとは別物です。</a:t>
            </a:r>
            <a:endParaRPr lang="en-US" sz="1350" dirty="0"/>
          </a:p>
        </p:txBody>
      </p:sp>
      <p:sp>
        <p:nvSpPr>
          <p:cNvPr id="14" name="Shape 12"/>
          <p:cNvSpPr/>
          <p:nvPr/>
        </p:nvSpPr>
        <p:spPr>
          <a:xfrm>
            <a:off x="640080" y="4315968"/>
            <a:ext cx="10911535" cy="1051560"/>
          </a:xfrm>
          <a:prstGeom prst="roundRect">
            <a:avLst>
              <a:gd name="adj" fmla="val 6957"/>
            </a:avLst>
          </a:prstGeom>
          <a:solidFill>
            <a:srgbClr val="F8EEDC"/>
          </a:solidFill>
          <a:ln w="12700">
            <a:solidFill>
              <a:srgbClr val="F8EEDC"/>
            </a:solidFill>
            <a:prstDash val="solid"/>
          </a:ln>
        </p:spPr>
      </p:sp>
      <p:sp>
        <p:nvSpPr>
          <p:cNvPr id="15" name="Text 13"/>
          <p:cNvSpPr txBox="1"/>
          <p:nvPr/>
        </p:nvSpPr>
        <p:spPr>
          <a:xfrm>
            <a:off x="914400" y="4471416"/>
            <a:ext cx="10362895" cy="740664"/>
          </a:xfrm>
          <a:prstGeom prst="rect">
            <a:avLst/>
          </a:prstGeom>
          <a:noFill/>
          <a:ln/>
        </p:spPr>
        <p:txBody>
          <a:bodyPr wrap="square" lIns="0" tIns="0" rIns="0" bIns="0" rtlCol="0" anchor="t"/>
          <a:lstStyle/>
          <a:p>
            <a:pPr indent="0" marL="0">
              <a:lnSpc>
                <a:spcPts val="2100"/>
              </a:lnSpc>
              <a:buNone/>
            </a:pPr>
            <a:r>
              <a:rPr lang="en-US" sz="1350" b="1" dirty="0">
                <a:solidFill>
                  <a:srgbClr val="8F6114"/>
                </a:solidFill>
                <a:latin typeface="Yu Gothic" pitchFamily="34" charset="0"/>
                <a:ea typeface="Yu Gothic" pitchFamily="34" charset="-128"/>
                <a:ea typeface="Yu Gothic" pitchFamily="34" charset="-122"/>
                <a:cs typeface="Yu Gothic" pitchFamily="34" charset="-120"/>
              </a:rPr>
              <a:t>正直に申し上げると、</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ここは5つの工程でいちばん期待値の調整が要る場所です。専門用語、方言、患者さんとの同時発話で精度が落ちます。確認を省ける段階にはまだありません。導入するなら、最初から「直す前提」で運用を組む必要があります。</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420624"/>
            <a:ext cx="566928" cy="566928"/>
          </a:xfrm>
          <a:prstGeom prst="ellipse">
            <a:avLst/>
          </a:prstGeom>
          <a:solidFill>
            <a:srgbClr val="8F6114"/>
          </a:solidFill>
          <a:ln w="12700">
            <a:solidFill>
              <a:srgbClr val="8F6114"/>
            </a:solidFill>
            <a:prstDash val="solid"/>
          </a:ln>
        </p:spPr>
      </p:sp>
      <p:sp>
        <p:nvSpPr>
          <p:cNvPr id="3" name="Text 1"/>
          <p:cNvSpPr txBox="1"/>
          <p:nvPr/>
        </p:nvSpPr>
        <p:spPr>
          <a:xfrm>
            <a:off x="64008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8"/>
                <a:ea typeface="Yu Gothic" pitchFamily="34" charset="-122"/>
                <a:cs typeface="Yu Gothic" pitchFamily="34" charset="-120"/>
              </a:rPr>
              <a:t>4</a:t>
            </a:r>
            <a:endParaRPr lang="en-US" sz="2000" dirty="0"/>
          </a:p>
        </p:txBody>
      </p:sp>
      <p:sp>
        <p:nvSpPr>
          <p:cNvPr id="4" name="Text 2"/>
          <p:cNvSpPr txBox="1"/>
          <p:nvPr/>
        </p:nvSpPr>
        <p:spPr>
          <a:xfrm>
            <a:off x="1408176" y="384048"/>
            <a:ext cx="3657600" cy="237744"/>
          </a:xfrm>
          <a:prstGeom prst="rect">
            <a:avLst/>
          </a:prstGeom>
          <a:noFill/>
          <a:ln/>
        </p:spPr>
        <p:txBody>
          <a:bodyPr wrap="square" lIns="0" tIns="0" rIns="0" bIns="0" rtlCol="0" anchor="ctr"/>
          <a:lstStyle/>
          <a:p>
            <a:pPr indent="0" marL="0">
              <a:buNone/>
            </a:pPr>
            <a:r>
              <a:rPr lang="en-US" sz="1150" spc="100" kern="0" dirty="0">
                <a:solidFill>
                  <a:srgbClr val="5A6C79"/>
                </a:solidFill>
                <a:latin typeface="Yu Gothic" pitchFamily="34" charset="0"/>
                <a:ea typeface="Yu Gothic" pitchFamily="34" charset="-128"/>
                <a:ea typeface="Yu Gothic" pitchFamily="34" charset="-122"/>
                <a:cs typeface="Yu Gothic" pitchFamily="34" charset="-120"/>
              </a:rPr>
              <a:t>診察後</a:t>
            </a:r>
            <a:endParaRPr lang="en-US" sz="1150" dirty="0"/>
          </a:p>
        </p:txBody>
      </p:sp>
      <p:sp>
        <p:nvSpPr>
          <p:cNvPr id="5" name="Text 3"/>
          <p:cNvSpPr txBox="1"/>
          <p:nvPr/>
        </p:nvSpPr>
        <p:spPr>
          <a:xfrm>
            <a:off x="1408176" y="603504"/>
            <a:ext cx="6858000" cy="457200"/>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書類作成</a:t>
            </a:r>
            <a:endParaRPr lang="en-US" sz="2900" dirty="0"/>
          </a:p>
        </p:txBody>
      </p:sp>
      <p:sp>
        <p:nvSpPr>
          <p:cNvPr id="6" name="Shape 4"/>
          <p:cNvSpPr/>
          <p:nvPr/>
        </p:nvSpPr>
        <p:spPr>
          <a:xfrm>
            <a:off x="10271455" y="566928"/>
            <a:ext cx="1280160" cy="310896"/>
          </a:xfrm>
          <a:prstGeom prst="roundRect">
            <a:avLst>
              <a:gd name="adj" fmla="val 50000"/>
            </a:avLst>
          </a:prstGeom>
          <a:solidFill>
            <a:srgbClr val="F8EEDC"/>
          </a:solidFill>
          <a:ln w="12700">
            <a:solidFill>
              <a:srgbClr val="F8EEDC"/>
            </a:solidFill>
            <a:prstDash val="solid"/>
          </a:ln>
        </p:spPr>
      </p:sp>
      <p:sp>
        <p:nvSpPr>
          <p:cNvPr id="7" name="Text 5"/>
          <p:cNvSpPr txBox="1"/>
          <p:nvPr/>
        </p:nvSpPr>
        <p:spPr>
          <a:xfrm>
            <a:off x="10271455" y="566928"/>
            <a:ext cx="1280160" cy="310896"/>
          </a:xfrm>
          <a:prstGeom prst="rect">
            <a:avLst/>
          </a:prstGeom>
          <a:noFill/>
          <a:ln/>
        </p:spPr>
        <p:txBody>
          <a:bodyPr wrap="square" lIns="0" tIns="0" rIns="0" bIns="0" rtlCol="0" anchor="ctr"/>
          <a:lstStyle/>
          <a:p>
            <a:pPr algn="ctr" indent="0" marL="0">
              <a:buNone/>
            </a:pPr>
            <a:r>
              <a:rPr lang="en-US" sz="12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1200" dirty="0"/>
          </a:p>
        </p:txBody>
      </p:sp>
      <p:sp>
        <p:nvSpPr>
          <p:cNvPr id="8" name="Text 6"/>
          <p:cNvSpPr txBox="1"/>
          <p:nvPr/>
        </p:nvSpPr>
        <p:spPr>
          <a:xfrm>
            <a:off x="640080" y="1481328"/>
            <a:ext cx="5120640" cy="256032"/>
          </a:xfrm>
          <a:prstGeom prst="rect">
            <a:avLst/>
          </a:prstGeom>
          <a:noFill/>
          <a:ln/>
        </p:spPr>
        <p:txBody>
          <a:bodyPr wrap="square" lIns="0" tIns="0" rIns="0" bIns="0" rtlCol="0" anchor="ctr"/>
          <a:lstStyle/>
          <a:p>
            <a:pPr indent="0" marL="0">
              <a:buNone/>
            </a:pPr>
            <a:r>
              <a:rPr lang="en-US" sz="1150" b="1" spc="120" kern="0" dirty="0">
                <a:solidFill>
                  <a:srgbClr val="5A6C79"/>
                </a:solidFill>
                <a:latin typeface="Yu Gothic" pitchFamily="34" charset="0"/>
                <a:ea typeface="Yu Gothic" pitchFamily="34" charset="-128"/>
                <a:ea typeface="Yu Gothic" pitchFamily="34" charset="-122"/>
                <a:cs typeface="Yu Gothic" pitchFamily="34" charset="-120"/>
              </a:rPr>
              <a:t>いま起きていること</a:t>
            </a:r>
            <a:endParaRPr lang="en-US" sz="1150" dirty="0"/>
          </a:p>
        </p:txBody>
      </p:sp>
      <p:sp>
        <p:nvSpPr>
          <p:cNvPr id="9" name="Text 7"/>
          <p:cNvSpPr txBox="1"/>
          <p:nvPr/>
        </p:nvSpPr>
        <p:spPr>
          <a:xfrm>
            <a:off x="640080"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紹介状、病院からの返書への返事、診断書、主治医意見書、訪問看護指示書、症状詳記。昼休みと診療後に積み上がり、持ち帰りになることもあります。</a:t>
            </a:r>
            <a:endParaRPr lang="en-US" sz="1450" dirty="0"/>
          </a:p>
        </p:txBody>
      </p:sp>
      <p:sp>
        <p:nvSpPr>
          <p:cNvPr id="10" name="Text 8"/>
          <p:cNvSpPr txBox="1"/>
          <p:nvPr/>
        </p:nvSpPr>
        <p:spPr>
          <a:xfrm>
            <a:off x="6428232" y="1481328"/>
            <a:ext cx="5120640" cy="256032"/>
          </a:xfrm>
          <a:prstGeom prst="rect">
            <a:avLst/>
          </a:prstGeom>
          <a:noFill/>
          <a:ln/>
        </p:spPr>
        <p:txBody>
          <a:bodyPr wrap="square" lIns="0" tIns="0" rIns="0" bIns="0" rtlCol="0" anchor="ctr"/>
          <a:lstStyle/>
          <a:p>
            <a:pPr indent="0" marL="0">
              <a:buNone/>
            </a:pPr>
            <a:r>
              <a:rPr lang="en-US" sz="1150" b="1" spc="120" kern="0" dirty="0">
                <a:solidFill>
                  <a:srgbClr val="15607F"/>
                </a:solidFill>
                <a:latin typeface="Yu Gothic" pitchFamily="34" charset="0"/>
                <a:ea typeface="Yu Gothic" pitchFamily="34" charset="-128"/>
                <a:ea typeface="Yu Gothic" pitchFamily="34" charset="-122"/>
                <a:cs typeface="Yu Gothic" pitchFamily="34" charset="-120"/>
              </a:rPr>
              <a:t>AIでできること</a:t>
            </a:r>
            <a:endParaRPr lang="en-US" sz="1150" dirty="0"/>
          </a:p>
        </p:txBody>
      </p:sp>
      <p:sp>
        <p:nvSpPr>
          <p:cNvPr id="11" name="Text 9"/>
          <p:cNvSpPr txBox="1"/>
          <p:nvPr/>
        </p:nvSpPr>
        <p:spPr>
          <a:xfrm>
            <a:off x="6428232"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カルテに書いた記載をもとに、本文の下書きが数十秒で出ます。もとの情報はすでにカルテにあり、それを別の形式に書き直しているだけなので、ここはAIがいちばん得意とする仕事です。</a:t>
            </a:r>
            <a:endParaRPr lang="en-US" sz="1450" dirty="0"/>
          </a:p>
        </p:txBody>
      </p:sp>
      <p:sp>
        <p:nvSpPr>
          <p:cNvPr id="12" name="Shape 10"/>
          <p:cNvSpPr/>
          <p:nvPr/>
        </p:nvSpPr>
        <p:spPr>
          <a:xfrm>
            <a:off x="640080" y="3310128"/>
            <a:ext cx="10911535" cy="1097280"/>
          </a:xfrm>
          <a:prstGeom prst="roundRect">
            <a:avLst>
              <a:gd name="adj" fmla="val 6667"/>
            </a:avLst>
          </a:prstGeom>
          <a:solidFill>
            <a:srgbClr val="F1F5F8"/>
          </a:solidFill>
          <a:ln w="12700">
            <a:solidFill>
              <a:srgbClr val="F1F5F8"/>
            </a:solidFill>
            <a:prstDash val="solid"/>
          </a:ln>
        </p:spPr>
      </p:sp>
      <p:sp>
        <p:nvSpPr>
          <p:cNvPr id="13" name="Text 11"/>
          <p:cNvSpPr txBox="1"/>
          <p:nvPr/>
        </p:nvSpPr>
        <p:spPr>
          <a:xfrm>
            <a:off x="914400" y="3465576"/>
            <a:ext cx="10362895" cy="786384"/>
          </a:xfrm>
          <a:prstGeom prst="rect">
            <a:avLst/>
          </a:prstGeom>
          <a:noFill/>
          <a:ln/>
        </p:spPr>
        <p:txBody>
          <a:bodyPr wrap="square" lIns="0" tIns="0" rIns="0" bIns="0" rtlCol="0" anchor="t"/>
          <a:lstStyle/>
          <a:p>
            <a:pPr indent="0" marL="0">
              <a:lnSpc>
                <a:spcPts val="2100"/>
              </a:lnSpc>
              <a:buNone/>
            </a:pPr>
            <a:r>
              <a:rPr lang="en-US" sz="1350" b="1" dirty="0">
                <a:solidFill>
                  <a:srgbClr val="0E3B4E"/>
                </a:solidFill>
                <a:latin typeface="Yu Gothic" pitchFamily="34" charset="0"/>
                <a:ea typeface="Yu Gothic" pitchFamily="34" charset="-128"/>
                <a:ea typeface="Yu Gothic" pitchFamily="34" charset="-122"/>
                <a:cs typeface="Yu Gothic" pitchFamily="34" charset="-120"/>
              </a:rPr>
              <a:t>入力は3通りあり、順番があります</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① 電子カルテの記載をコピーして貼る ── 手書きを経由しないので誤読がなく、いちばん速い。　② 診察の合間に30秒口述する ── キーボードが速くない先生に向きます。　③ 紙のメモを撮影する ── 可能ではありますが、崩れた手書きや略語の読み違いが薬剤名や数値で起きると実害になるため、三番手です。</a:t>
            </a:r>
            <a:endParaRPr lang="en-US" sz="1350" dirty="0"/>
          </a:p>
        </p:txBody>
      </p:sp>
      <p:sp>
        <p:nvSpPr>
          <p:cNvPr id="14" name="Shape 12"/>
          <p:cNvSpPr/>
          <p:nvPr/>
        </p:nvSpPr>
        <p:spPr>
          <a:xfrm>
            <a:off x="640080" y="4663440"/>
            <a:ext cx="10911535" cy="868680"/>
          </a:xfrm>
          <a:prstGeom prst="roundRect">
            <a:avLst>
              <a:gd name="adj" fmla="val 8421"/>
            </a:avLst>
          </a:prstGeom>
          <a:solidFill>
            <a:srgbClr val="F8EEDC"/>
          </a:solidFill>
          <a:ln w="12700">
            <a:solidFill>
              <a:srgbClr val="F8EEDC"/>
            </a:solidFill>
            <a:prstDash val="solid"/>
          </a:ln>
        </p:spPr>
      </p:sp>
      <p:sp>
        <p:nvSpPr>
          <p:cNvPr id="15" name="Text 13"/>
          <p:cNvSpPr txBox="1"/>
          <p:nvPr/>
        </p:nvSpPr>
        <p:spPr>
          <a:xfrm>
            <a:off x="914400" y="4818888"/>
            <a:ext cx="10362895" cy="557784"/>
          </a:xfrm>
          <a:prstGeom prst="rect">
            <a:avLst/>
          </a:prstGeom>
          <a:noFill/>
          <a:ln/>
        </p:spPr>
        <p:txBody>
          <a:bodyPr wrap="square" lIns="0" tIns="0" rIns="0" bIns="0" rtlCol="0" anchor="t"/>
          <a:lstStyle/>
          <a:p>
            <a:pPr indent="0" marL="0">
              <a:lnSpc>
                <a:spcPts val="2100"/>
              </a:lnSpc>
              <a:buNone/>
            </a:pPr>
            <a:r>
              <a:rPr lang="en-US" sz="1350" b="1" dirty="0">
                <a:solidFill>
                  <a:srgbClr val="8F6114"/>
                </a:solidFill>
                <a:latin typeface="Yu Gothic" pitchFamily="34" charset="0"/>
                <a:ea typeface="Yu Gothic" pitchFamily="34" charset="-128"/>
                <a:ea typeface="Yu Gothic" pitchFamily="34" charset="-122"/>
                <a:cs typeface="Yu Gothic" pitchFamily="34" charset="-120"/>
              </a:rPr>
              <a:t>仕上げは人の手に残ります。</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AIが作るのは本文だけです。所定の書式に貼り込み、内容を確認し、署名捺印するのは先生です。主治医意見書のように自治体指定の様式があるものは、様式の項目ごとに下書きを分けて出す形にします。</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420624"/>
            <a:ext cx="566928" cy="566928"/>
          </a:xfrm>
          <a:prstGeom prst="ellipse">
            <a:avLst/>
          </a:prstGeom>
          <a:solidFill>
            <a:srgbClr val="8F6114"/>
          </a:solidFill>
          <a:ln w="12700">
            <a:solidFill>
              <a:srgbClr val="8F6114"/>
            </a:solidFill>
            <a:prstDash val="solid"/>
          </a:ln>
        </p:spPr>
      </p:sp>
      <p:sp>
        <p:nvSpPr>
          <p:cNvPr id="3" name="Text 1"/>
          <p:cNvSpPr txBox="1"/>
          <p:nvPr/>
        </p:nvSpPr>
        <p:spPr>
          <a:xfrm>
            <a:off x="640080" y="4206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8"/>
                <a:ea typeface="Yu Gothic" pitchFamily="34" charset="-122"/>
                <a:cs typeface="Yu Gothic" pitchFamily="34" charset="-120"/>
              </a:rPr>
              <a:t>5</a:t>
            </a:r>
            <a:endParaRPr lang="en-US" sz="2000" dirty="0"/>
          </a:p>
        </p:txBody>
      </p:sp>
      <p:sp>
        <p:nvSpPr>
          <p:cNvPr id="4" name="Text 2"/>
          <p:cNvSpPr txBox="1"/>
          <p:nvPr/>
        </p:nvSpPr>
        <p:spPr>
          <a:xfrm>
            <a:off x="1408176" y="384048"/>
            <a:ext cx="3657600" cy="237744"/>
          </a:xfrm>
          <a:prstGeom prst="rect">
            <a:avLst/>
          </a:prstGeom>
          <a:noFill/>
          <a:ln/>
        </p:spPr>
        <p:txBody>
          <a:bodyPr wrap="square" lIns="0" tIns="0" rIns="0" bIns="0" rtlCol="0" anchor="ctr"/>
          <a:lstStyle/>
          <a:p>
            <a:pPr indent="0" marL="0">
              <a:buNone/>
            </a:pPr>
            <a:r>
              <a:rPr lang="en-US" sz="1150" spc="100" kern="0" dirty="0">
                <a:solidFill>
                  <a:srgbClr val="5A6C79"/>
                </a:solidFill>
                <a:latin typeface="Yu Gothic" pitchFamily="34" charset="0"/>
                <a:ea typeface="Yu Gothic" pitchFamily="34" charset="-128"/>
                <a:ea typeface="Yu Gothic" pitchFamily="34" charset="-122"/>
                <a:cs typeface="Yu Gothic" pitchFamily="34" charset="-120"/>
              </a:rPr>
              <a:t>月初</a:t>
            </a:r>
            <a:endParaRPr lang="en-US" sz="1150" dirty="0"/>
          </a:p>
        </p:txBody>
      </p:sp>
      <p:sp>
        <p:nvSpPr>
          <p:cNvPr id="5" name="Text 3"/>
          <p:cNvSpPr txBox="1"/>
          <p:nvPr/>
        </p:nvSpPr>
        <p:spPr>
          <a:xfrm>
            <a:off x="1408176" y="603504"/>
            <a:ext cx="6858000" cy="457200"/>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レセプトと患者フォロー</a:t>
            </a:r>
            <a:endParaRPr lang="en-US" sz="2900" dirty="0"/>
          </a:p>
        </p:txBody>
      </p:sp>
      <p:sp>
        <p:nvSpPr>
          <p:cNvPr id="6" name="Shape 4"/>
          <p:cNvSpPr/>
          <p:nvPr/>
        </p:nvSpPr>
        <p:spPr>
          <a:xfrm>
            <a:off x="10271455" y="566928"/>
            <a:ext cx="1280160" cy="310896"/>
          </a:xfrm>
          <a:prstGeom prst="roundRect">
            <a:avLst>
              <a:gd name="adj" fmla="val 50000"/>
            </a:avLst>
          </a:prstGeom>
          <a:solidFill>
            <a:srgbClr val="F8EEDC"/>
          </a:solidFill>
          <a:ln w="12700">
            <a:solidFill>
              <a:srgbClr val="F8EEDC"/>
            </a:solidFill>
            <a:prstDash val="solid"/>
          </a:ln>
        </p:spPr>
      </p:sp>
      <p:sp>
        <p:nvSpPr>
          <p:cNvPr id="7" name="Text 5"/>
          <p:cNvSpPr txBox="1"/>
          <p:nvPr/>
        </p:nvSpPr>
        <p:spPr>
          <a:xfrm>
            <a:off x="10271455" y="566928"/>
            <a:ext cx="1280160" cy="310896"/>
          </a:xfrm>
          <a:prstGeom prst="rect">
            <a:avLst/>
          </a:prstGeom>
          <a:noFill/>
          <a:ln/>
        </p:spPr>
        <p:txBody>
          <a:bodyPr wrap="square" lIns="0" tIns="0" rIns="0" bIns="0" rtlCol="0" anchor="ctr"/>
          <a:lstStyle/>
          <a:p>
            <a:pPr algn="ctr" indent="0" marL="0">
              <a:buNone/>
            </a:pPr>
            <a:r>
              <a:rPr lang="en-US" sz="1200" b="1" dirty="0">
                <a:solidFill>
                  <a:srgbClr val="8F6114"/>
                </a:solidFill>
                <a:latin typeface="Yu Gothic" pitchFamily="34" charset="0"/>
                <a:ea typeface="Yu Gothic" pitchFamily="34" charset="-128"/>
                <a:ea typeface="Yu Gothic" pitchFamily="34" charset="-122"/>
                <a:cs typeface="Yu Gothic" pitchFamily="34" charset="-120"/>
              </a:rPr>
              <a:t>下書きまで</a:t>
            </a:r>
            <a:endParaRPr lang="en-US" sz="1200" dirty="0"/>
          </a:p>
        </p:txBody>
      </p:sp>
      <p:sp>
        <p:nvSpPr>
          <p:cNvPr id="8" name="Text 6"/>
          <p:cNvSpPr txBox="1"/>
          <p:nvPr/>
        </p:nvSpPr>
        <p:spPr>
          <a:xfrm>
            <a:off x="640080" y="1481328"/>
            <a:ext cx="5120640" cy="256032"/>
          </a:xfrm>
          <a:prstGeom prst="rect">
            <a:avLst/>
          </a:prstGeom>
          <a:noFill/>
          <a:ln/>
        </p:spPr>
        <p:txBody>
          <a:bodyPr wrap="square" lIns="0" tIns="0" rIns="0" bIns="0" rtlCol="0" anchor="ctr"/>
          <a:lstStyle/>
          <a:p>
            <a:pPr indent="0" marL="0">
              <a:buNone/>
            </a:pPr>
            <a:r>
              <a:rPr lang="en-US" sz="1150" b="1" spc="120" kern="0" dirty="0">
                <a:solidFill>
                  <a:srgbClr val="5A6C79"/>
                </a:solidFill>
                <a:latin typeface="Yu Gothic" pitchFamily="34" charset="0"/>
                <a:ea typeface="Yu Gothic" pitchFamily="34" charset="-128"/>
                <a:ea typeface="Yu Gothic" pitchFamily="34" charset="-122"/>
                <a:cs typeface="Yu Gothic" pitchFamily="34" charset="-120"/>
              </a:rPr>
              <a:t>いま起きていること</a:t>
            </a:r>
            <a:endParaRPr lang="en-US" sz="1150" dirty="0"/>
          </a:p>
        </p:txBody>
      </p:sp>
      <p:sp>
        <p:nvSpPr>
          <p:cNvPr id="9" name="Text 7"/>
          <p:cNvSpPr txBox="1"/>
          <p:nvPr/>
        </p:nvSpPr>
        <p:spPr>
          <a:xfrm>
            <a:off x="640080"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月初に点検作業が集中します。返戻と査定への対応も重なり、残業の主な原因になりがちです。</a:t>
            </a:r>
            <a:endParaRPr lang="en-US" sz="1450" dirty="0"/>
          </a:p>
        </p:txBody>
      </p:sp>
      <p:sp>
        <p:nvSpPr>
          <p:cNvPr id="10" name="Text 8"/>
          <p:cNvSpPr txBox="1"/>
          <p:nvPr/>
        </p:nvSpPr>
        <p:spPr>
          <a:xfrm>
            <a:off x="6428232" y="1481328"/>
            <a:ext cx="5120640" cy="256032"/>
          </a:xfrm>
          <a:prstGeom prst="rect">
            <a:avLst/>
          </a:prstGeom>
          <a:noFill/>
          <a:ln/>
        </p:spPr>
        <p:txBody>
          <a:bodyPr wrap="square" lIns="0" tIns="0" rIns="0" bIns="0" rtlCol="0" anchor="ctr"/>
          <a:lstStyle/>
          <a:p>
            <a:pPr indent="0" marL="0">
              <a:buNone/>
            </a:pPr>
            <a:r>
              <a:rPr lang="en-US" sz="1150" b="1" spc="120" kern="0" dirty="0">
                <a:solidFill>
                  <a:srgbClr val="15607F"/>
                </a:solidFill>
                <a:latin typeface="Yu Gothic" pitchFamily="34" charset="0"/>
                <a:ea typeface="Yu Gothic" pitchFamily="34" charset="-128"/>
                <a:ea typeface="Yu Gothic" pitchFamily="34" charset="-122"/>
                <a:cs typeface="Yu Gothic" pitchFamily="34" charset="-120"/>
              </a:rPr>
              <a:t>AIでできること</a:t>
            </a:r>
            <a:endParaRPr lang="en-US" sz="1150" dirty="0"/>
          </a:p>
        </p:txBody>
      </p:sp>
      <p:sp>
        <p:nvSpPr>
          <p:cNvPr id="11" name="Text 9"/>
          <p:cNvSpPr txBox="1"/>
          <p:nvPr/>
        </p:nvSpPr>
        <p:spPr>
          <a:xfrm>
            <a:off x="6428232" y="1773936"/>
            <a:ext cx="5120640" cy="1417320"/>
          </a:xfrm>
          <a:prstGeom prst="rect">
            <a:avLst/>
          </a:prstGeom>
          <a:noFill/>
          <a:ln/>
        </p:spPr>
        <p:txBody>
          <a:bodyPr wrap="square" lIns="0" tIns="0" rIns="0" bIns="0" rtlCol="0" anchor="t"/>
          <a:lstStyle/>
          <a:p>
            <a:pPr indent="0" marL="0">
              <a:lnSpc>
                <a:spcPts val="2300"/>
              </a:lnSpc>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提出前のレセプトから請求漏れや算定ミスの候補をAIが拾い出します。定期受診や予防接種の案内(リコール)も、対象の抽出から文面の作成まで自動化できます。</a:t>
            </a:r>
            <a:endParaRPr lang="en-US" sz="1450" dirty="0"/>
          </a:p>
        </p:txBody>
      </p:sp>
      <p:sp>
        <p:nvSpPr>
          <p:cNvPr id="12" name="Shape 10"/>
          <p:cNvSpPr/>
          <p:nvPr/>
        </p:nvSpPr>
        <p:spPr>
          <a:xfrm>
            <a:off x="640080" y="3310128"/>
            <a:ext cx="10911535" cy="749808"/>
          </a:xfrm>
          <a:prstGeom prst="roundRect">
            <a:avLst>
              <a:gd name="adj" fmla="val 9756"/>
            </a:avLst>
          </a:prstGeom>
          <a:solidFill>
            <a:srgbClr val="F1F5F8"/>
          </a:solidFill>
          <a:ln w="12700">
            <a:solidFill>
              <a:srgbClr val="F1F5F8"/>
            </a:solidFill>
            <a:prstDash val="solid"/>
          </a:ln>
        </p:spPr>
      </p:sp>
      <p:sp>
        <p:nvSpPr>
          <p:cNvPr id="13" name="Text 11"/>
          <p:cNvSpPr txBox="1"/>
          <p:nvPr/>
        </p:nvSpPr>
        <p:spPr>
          <a:xfrm>
            <a:off x="914400" y="3465576"/>
            <a:ext cx="10362895" cy="438912"/>
          </a:xfrm>
          <a:prstGeom prst="rect">
            <a:avLst/>
          </a:prstGeom>
          <a:noFill/>
          <a:ln/>
        </p:spPr>
        <p:txBody>
          <a:bodyPr wrap="square" lIns="0" tIns="0" rIns="0" bIns="0" rtlCol="0" anchor="t"/>
          <a:lstStyle/>
          <a:p>
            <a:pPr indent="0" marL="0">
              <a:lnSpc>
                <a:spcPts val="2100"/>
              </a:lnSpc>
              <a:buNone/>
            </a:pPr>
            <a:r>
              <a:rPr lang="en-US" sz="1350" b="1" dirty="0">
                <a:solidFill>
                  <a:srgbClr val="0E3B4E"/>
                </a:solidFill>
                <a:latin typeface="Yu Gothic" pitchFamily="34" charset="0"/>
                <a:ea typeface="Yu Gothic" pitchFamily="34" charset="-128"/>
                <a:ea typeface="Yu Gothic" pitchFamily="34" charset="-122"/>
                <a:cs typeface="Yu Gothic" pitchFamily="34" charset="-120"/>
              </a:rPr>
              <a:t>手段</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既製のAIレセプト点検サービスを使います。電子カルテやレセコンの環境に合うものを選びます。</a:t>
            </a:r>
            <a:endParaRPr lang="en-US" sz="1350" dirty="0"/>
          </a:p>
        </p:txBody>
      </p:sp>
      <p:sp>
        <p:nvSpPr>
          <p:cNvPr id="14" name="Shape 12"/>
          <p:cNvSpPr/>
          <p:nvPr/>
        </p:nvSpPr>
        <p:spPr>
          <a:xfrm>
            <a:off x="640080" y="4315968"/>
            <a:ext cx="10911535" cy="658368"/>
          </a:xfrm>
          <a:prstGeom prst="roundRect">
            <a:avLst>
              <a:gd name="adj" fmla="val 11111"/>
            </a:avLst>
          </a:prstGeom>
          <a:solidFill>
            <a:srgbClr val="F8EEDC"/>
          </a:solidFill>
          <a:ln w="12700">
            <a:solidFill>
              <a:srgbClr val="F8EEDC"/>
            </a:solidFill>
            <a:prstDash val="solid"/>
          </a:ln>
        </p:spPr>
      </p:sp>
      <p:sp>
        <p:nvSpPr>
          <p:cNvPr id="15" name="Text 13"/>
          <p:cNvSpPr txBox="1"/>
          <p:nvPr/>
        </p:nvSpPr>
        <p:spPr>
          <a:xfrm>
            <a:off x="914400" y="4471416"/>
            <a:ext cx="10362895" cy="347472"/>
          </a:xfrm>
          <a:prstGeom prst="rect">
            <a:avLst/>
          </a:prstGeom>
          <a:noFill/>
          <a:ln/>
        </p:spPr>
        <p:txBody>
          <a:bodyPr wrap="square" lIns="0" tIns="0" rIns="0" bIns="0" rtlCol="0" anchor="t"/>
          <a:lstStyle/>
          <a:p>
            <a:pPr indent="0" marL="0">
              <a:lnSpc>
                <a:spcPts val="2100"/>
              </a:lnSpc>
              <a:buNone/>
            </a:pPr>
            <a:r>
              <a:rPr lang="en-US" sz="1350" b="1" dirty="0">
                <a:solidFill>
                  <a:srgbClr val="8F6114"/>
                </a:solidFill>
                <a:latin typeface="Yu Gothic" pitchFamily="34" charset="0"/>
                <a:ea typeface="Yu Gothic" pitchFamily="34" charset="-128"/>
                <a:ea typeface="Yu Gothic" pitchFamily="34" charset="-122"/>
                <a:cs typeface="Yu Gothic" pitchFamily="34" charset="-120"/>
              </a:rPr>
              <a:t>拾うのはAI、決めるのは人。</a:t>
            </a:r>
            <a:pPr indent="0" marL="0">
              <a:lnSpc>
                <a:spcPts val="21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　指摘が出ても、採用するかどうかの判断は事務と先生が行います。</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患者さんの情報を使わない仕事から始められます</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院内の文章仕事には、そもそも患者情報が含まれません。契約も設定も要らず、効果だけ先に確かめられます。</a:t>
            </a:r>
            <a:endParaRPr lang="en-US" sz="1300" dirty="0"/>
          </a:p>
        </p:txBody>
      </p:sp>
      <p:sp>
        <p:nvSpPr>
          <p:cNvPr id="4" name="Shape 2"/>
          <p:cNvSpPr/>
          <p:nvPr/>
        </p:nvSpPr>
        <p:spPr>
          <a:xfrm>
            <a:off x="640080" y="1828800"/>
            <a:ext cx="3401568" cy="1078992"/>
          </a:xfrm>
          <a:prstGeom prst="roundRect">
            <a:avLst>
              <a:gd name="adj" fmla="val 6780"/>
            </a:avLst>
          </a:prstGeom>
          <a:solidFill>
            <a:srgbClr val="E2F3EC"/>
          </a:solidFill>
          <a:ln w="12700">
            <a:solidFill>
              <a:srgbClr val="E2F3EC"/>
            </a:solidFill>
            <a:prstDash val="solid"/>
          </a:ln>
        </p:spPr>
      </p:sp>
      <p:sp>
        <p:nvSpPr>
          <p:cNvPr id="5" name="Text 3"/>
          <p:cNvSpPr txBox="1"/>
          <p:nvPr/>
        </p:nvSpPr>
        <p:spPr>
          <a:xfrm>
            <a:off x="896112" y="2011680"/>
            <a:ext cx="2889504" cy="310896"/>
          </a:xfrm>
          <a:prstGeom prst="rect">
            <a:avLst/>
          </a:prstGeom>
          <a:noFill/>
          <a:ln/>
        </p:spPr>
        <p:txBody>
          <a:bodyPr wrap="square" lIns="0" tIns="0" rIns="0" bIns="0" rtlCol="0" anchor="ctr"/>
          <a:lstStyle/>
          <a:p>
            <a:pPr indent="0" marL="0">
              <a:buNone/>
            </a:pPr>
            <a:r>
              <a:rPr lang="en-US" sz="1550" b="1" dirty="0">
                <a:solidFill>
                  <a:srgbClr val="1F8F68"/>
                </a:solidFill>
                <a:latin typeface="Yu Gothic" pitchFamily="34" charset="0"/>
                <a:ea typeface="Yu Gothic" pitchFamily="34" charset="-128"/>
                <a:ea typeface="Yu Gothic" pitchFamily="34" charset="-122"/>
                <a:cs typeface="Yu Gothic" pitchFamily="34" charset="-120"/>
              </a:rPr>
              <a:t>患者さん向けの説明資料</a:t>
            </a:r>
            <a:endParaRPr lang="en-US" sz="1550" dirty="0"/>
          </a:p>
        </p:txBody>
      </p:sp>
      <p:sp>
        <p:nvSpPr>
          <p:cNvPr id="6" name="Text 4"/>
          <p:cNvSpPr txBox="1"/>
          <p:nvPr/>
        </p:nvSpPr>
        <p:spPr>
          <a:xfrm>
            <a:off x="896112" y="2359152"/>
            <a:ext cx="2889504" cy="411480"/>
          </a:xfrm>
          <a:prstGeom prst="rect">
            <a:avLst/>
          </a:prstGeom>
          <a:noFill/>
          <a:ln/>
        </p:spPr>
        <p:txBody>
          <a:bodyPr wrap="square" lIns="0" tIns="0" rIns="0" bIns="0" rtlCol="0" anchor="ctr"/>
          <a:lstStyle/>
          <a:p>
            <a:pPr indent="0" marL="0">
              <a:lnSpc>
                <a:spcPts val="1900"/>
              </a:lnSpc>
              <a:buNone/>
            </a:pPr>
            <a:r>
              <a:rPr lang="en-US" sz="1250" dirty="0">
                <a:solidFill>
                  <a:srgbClr val="1F2D37"/>
                </a:solidFill>
                <a:latin typeface="Yu Gothic" pitchFamily="34" charset="0"/>
                <a:ea typeface="Yu Gothic" pitchFamily="34" charset="-128"/>
                <a:ea typeface="Yu Gothic" pitchFamily="34" charset="-122"/>
                <a:cs typeface="Yu Gothic" pitchFamily="34" charset="-120"/>
              </a:rPr>
              <a:t>病名や検査の説明、同意書の文案</a:t>
            </a:r>
            <a:endParaRPr lang="en-US" sz="1250" dirty="0"/>
          </a:p>
        </p:txBody>
      </p:sp>
      <p:sp>
        <p:nvSpPr>
          <p:cNvPr id="7" name="Shape 5"/>
          <p:cNvSpPr/>
          <p:nvPr/>
        </p:nvSpPr>
        <p:spPr>
          <a:xfrm>
            <a:off x="4398264" y="1828800"/>
            <a:ext cx="3401568" cy="1078992"/>
          </a:xfrm>
          <a:prstGeom prst="roundRect">
            <a:avLst>
              <a:gd name="adj" fmla="val 6780"/>
            </a:avLst>
          </a:prstGeom>
          <a:solidFill>
            <a:srgbClr val="E2F3EC"/>
          </a:solidFill>
          <a:ln w="12700">
            <a:solidFill>
              <a:srgbClr val="E2F3EC"/>
            </a:solidFill>
            <a:prstDash val="solid"/>
          </a:ln>
        </p:spPr>
      </p:sp>
      <p:sp>
        <p:nvSpPr>
          <p:cNvPr id="8" name="Text 6"/>
          <p:cNvSpPr txBox="1"/>
          <p:nvPr/>
        </p:nvSpPr>
        <p:spPr>
          <a:xfrm>
            <a:off x="4654296" y="2011680"/>
            <a:ext cx="2889504" cy="310896"/>
          </a:xfrm>
          <a:prstGeom prst="rect">
            <a:avLst/>
          </a:prstGeom>
          <a:noFill/>
          <a:ln/>
        </p:spPr>
        <p:txBody>
          <a:bodyPr wrap="square" lIns="0" tIns="0" rIns="0" bIns="0" rtlCol="0" anchor="ctr"/>
          <a:lstStyle/>
          <a:p>
            <a:pPr indent="0" marL="0">
              <a:buNone/>
            </a:pPr>
            <a:r>
              <a:rPr lang="en-US" sz="1550" b="1" dirty="0">
                <a:solidFill>
                  <a:srgbClr val="1F8F68"/>
                </a:solidFill>
                <a:latin typeface="Yu Gothic" pitchFamily="34" charset="0"/>
                <a:ea typeface="Yu Gothic" pitchFamily="34" charset="-128"/>
                <a:ea typeface="Yu Gothic" pitchFamily="34" charset="-122"/>
                <a:cs typeface="Yu Gothic" pitchFamily="34" charset="-120"/>
              </a:rPr>
              <a:t>待合の掲示物</a:t>
            </a:r>
            <a:endParaRPr lang="en-US" sz="1550" dirty="0"/>
          </a:p>
        </p:txBody>
      </p:sp>
      <p:sp>
        <p:nvSpPr>
          <p:cNvPr id="9" name="Text 7"/>
          <p:cNvSpPr txBox="1"/>
          <p:nvPr/>
        </p:nvSpPr>
        <p:spPr>
          <a:xfrm>
            <a:off x="4654296" y="2359152"/>
            <a:ext cx="2889504" cy="411480"/>
          </a:xfrm>
          <a:prstGeom prst="rect">
            <a:avLst/>
          </a:prstGeom>
          <a:noFill/>
          <a:ln/>
        </p:spPr>
        <p:txBody>
          <a:bodyPr wrap="square" lIns="0" tIns="0" rIns="0" bIns="0" rtlCol="0" anchor="ctr"/>
          <a:lstStyle/>
          <a:p>
            <a:pPr indent="0" marL="0">
              <a:lnSpc>
                <a:spcPts val="1900"/>
              </a:lnSpc>
              <a:buNone/>
            </a:pPr>
            <a:r>
              <a:rPr lang="en-US" sz="1250" dirty="0">
                <a:solidFill>
                  <a:srgbClr val="1F2D37"/>
                </a:solidFill>
                <a:latin typeface="Yu Gothic" pitchFamily="34" charset="0"/>
                <a:ea typeface="Yu Gothic" pitchFamily="34" charset="-128"/>
                <a:ea typeface="Yu Gothic" pitchFamily="34" charset="-122"/>
                <a:cs typeface="Yu Gothic" pitchFamily="34" charset="-120"/>
              </a:rPr>
              <a:t>季節の注意喚起、院内のお知らせ</a:t>
            </a:r>
            <a:endParaRPr lang="en-US" sz="1250" dirty="0"/>
          </a:p>
        </p:txBody>
      </p:sp>
      <p:sp>
        <p:nvSpPr>
          <p:cNvPr id="10" name="Shape 8"/>
          <p:cNvSpPr/>
          <p:nvPr/>
        </p:nvSpPr>
        <p:spPr>
          <a:xfrm>
            <a:off x="8156448" y="1828800"/>
            <a:ext cx="3401568" cy="1078992"/>
          </a:xfrm>
          <a:prstGeom prst="roundRect">
            <a:avLst>
              <a:gd name="adj" fmla="val 6780"/>
            </a:avLst>
          </a:prstGeom>
          <a:solidFill>
            <a:srgbClr val="E2F3EC"/>
          </a:solidFill>
          <a:ln w="12700">
            <a:solidFill>
              <a:srgbClr val="E2F3EC"/>
            </a:solidFill>
            <a:prstDash val="solid"/>
          </a:ln>
        </p:spPr>
      </p:sp>
      <p:sp>
        <p:nvSpPr>
          <p:cNvPr id="11" name="Text 9"/>
          <p:cNvSpPr txBox="1"/>
          <p:nvPr/>
        </p:nvSpPr>
        <p:spPr>
          <a:xfrm>
            <a:off x="8412480" y="2011680"/>
            <a:ext cx="2889504" cy="310896"/>
          </a:xfrm>
          <a:prstGeom prst="rect">
            <a:avLst/>
          </a:prstGeom>
          <a:noFill/>
          <a:ln/>
        </p:spPr>
        <p:txBody>
          <a:bodyPr wrap="square" lIns="0" tIns="0" rIns="0" bIns="0" rtlCol="0" anchor="ctr"/>
          <a:lstStyle/>
          <a:p>
            <a:pPr indent="0" marL="0">
              <a:buNone/>
            </a:pPr>
            <a:r>
              <a:rPr lang="en-US" sz="1550" b="1" dirty="0">
                <a:solidFill>
                  <a:srgbClr val="1F8F68"/>
                </a:solidFill>
                <a:latin typeface="Yu Gothic" pitchFamily="34" charset="0"/>
                <a:ea typeface="Yu Gothic" pitchFamily="34" charset="-128"/>
                <a:ea typeface="Yu Gothic" pitchFamily="34" charset="-122"/>
                <a:cs typeface="Yu Gothic" pitchFamily="34" charset="-120"/>
              </a:rPr>
              <a:t>ホームページのお知らせ</a:t>
            </a:r>
            <a:endParaRPr lang="en-US" sz="1550" dirty="0"/>
          </a:p>
        </p:txBody>
      </p:sp>
      <p:sp>
        <p:nvSpPr>
          <p:cNvPr id="12" name="Text 10"/>
          <p:cNvSpPr txBox="1"/>
          <p:nvPr/>
        </p:nvSpPr>
        <p:spPr>
          <a:xfrm>
            <a:off x="8412480" y="2359152"/>
            <a:ext cx="2889504" cy="411480"/>
          </a:xfrm>
          <a:prstGeom prst="rect">
            <a:avLst/>
          </a:prstGeom>
          <a:noFill/>
          <a:ln/>
        </p:spPr>
        <p:txBody>
          <a:bodyPr wrap="square" lIns="0" tIns="0" rIns="0" bIns="0" rtlCol="0" anchor="ctr"/>
          <a:lstStyle/>
          <a:p>
            <a:pPr indent="0" marL="0">
              <a:lnSpc>
                <a:spcPts val="1900"/>
              </a:lnSpc>
              <a:buNone/>
            </a:pPr>
            <a:r>
              <a:rPr lang="en-US" sz="1250" dirty="0">
                <a:solidFill>
                  <a:srgbClr val="1F2D37"/>
                </a:solidFill>
                <a:latin typeface="Yu Gothic" pitchFamily="34" charset="0"/>
                <a:ea typeface="Yu Gothic" pitchFamily="34" charset="-128"/>
                <a:ea typeface="Yu Gothic" pitchFamily="34" charset="-122"/>
                <a:cs typeface="Yu Gothic" pitchFamily="34" charset="-120"/>
              </a:rPr>
              <a:t>休診案内、新しい取り組みの紹介</a:t>
            </a:r>
            <a:endParaRPr lang="en-US" sz="1250" dirty="0"/>
          </a:p>
        </p:txBody>
      </p:sp>
      <p:sp>
        <p:nvSpPr>
          <p:cNvPr id="13" name="Shape 11"/>
          <p:cNvSpPr/>
          <p:nvPr/>
        </p:nvSpPr>
        <p:spPr>
          <a:xfrm>
            <a:off x="640080" y="3182112"/>
            <a:ext cx="3401568" cy="1078992"/>
          </a:xfrm>
          <a:prstGeom prst="roundRect">
            <a:avLst>
              <a:gd name="adj" fmla="val 6780"/>
            </a:avLst>
          </a:prstGeom>
          <a:solidFill>
            <a:srgbClr val="E2F3EC"/>
          </a:solidFill>
          <a:ln w="12700">
            <a:solidFill>
              <a:srgbClr val="E2F3EC"/>
            </a:solidFill>
            <a:prstDash val="solid"/>
          </a:ln>
        </p:spPr>
      </p:sp>
      <p:sp>
        <p:nvSpPr>
          <p:cNvPr id="14" name="Text 12"/>
          <p:cNvSpPr txBox="1"/>
          <p:nvPr/>
        </p:nvSpPr>
        <p:spPr>
          <a:xfrm>
            <a:off x="896112" y="3364992"/>
            <a:ext cx="2889504" cy="310896"/>
          </a:xfrm>
          <a:prstGeom prst="rect">
            <a:avLst/>
          </a:prstGeom>
          <a:noFill/>
          <a:ln/>
        </p:spPr>
        <p:txBody>
          <a:bodyPr wrap="square" lIns="0" tIns="0" rIns="0" bIns="0" rtlCol="0" anchor="ctr"/>
          <a:lstStyle/>
          <a:p>
            <a:pPr indent="0" marL="0">
              <a:buNone/>
            </a:pPr>
            <a:r>
              <a:rPr lang="en-US" sz="1550" b="1" dirty="0">
                <a:solidFill>
                  <a:srgbClr val="1F8F68"/>
                </a:solidFill>
                <a:latin typeface="Yu Gothic" pitchFamily="34" charset="0"/>
                <a:ea typeface="Yu Gothic" pitchFamily="34" charset="-128"/>
                <a:ea typeface="Yu Gothic" pitchFamily="34" charset="-122"/>
                <a:cs typeface="Yu Gothic" pitchFamily="34" charset="-120"/>
              </a:rPr>
              <a:t>スタッフの求人票</a:t>
            </a:r>
            <a:endParaRPr lang="en-US" sz="1550" dirty="0"/>
          </a:p>
        </p:txBody>
      </p:sp>
      <p:sp>
        <p:nvSpPr>
          <p:cNvPr id="15" name="Text 13"/>
          <p:cNvSpPr txBox="1"/>
          <p:nvPr/>
        </p:nvSpPr>
        <p:spPr>
          <a:xfrm>
            <a:off x="896112" y="3712464"/>
            <a:ext cx="2889504" cy="411480"/>
          </a:xfrm>
          <a:prstGeom prst="rect">
            <a:avLst/>
          </a:prstGeom>
          <a:noFill/>
          <a:ln/>
        </p:spPr>
        <p:txBody>
          <a:bodyPr wrap="square" lIns="0" tIns="0" rIns="0" bIns="0" rtlCol="0" anchor="ctr"/>
          <a:lstStyle/>
          <a:p>
            <a:pPr indent="0" marL="0">
              <a:lnSpc>
                <a:spcPts val="1900"/>
              </a:lnSpc>
              <a:buNone/>
            </a:pPr>
            <a:r>
              <a:rPr lang="en-US" sz="1250" dirty="0">
                <a:solidFill>
                  <a:srgbClr val="1F2D37"/>
                </a:solidFill>
                <a:latin typeface="Yu Gothic" pitchFamily="34" charset="0"/>
                <a:ea typeface="Yu Gothic" pitchFamily="34" charset="-128"/>
                <a:ea typeface="Yu Gothic" pitchFamily="34" charset="-122"/>
                <a:cs typeface="Yu Gothic" pitchFamily="34" charset="-120"/>
              </a:rPr>
              <a:t>求める人物像の整理から文面まで</a:t>
            </a:r>
            <a:endParaRPr lang="en-US" sz="1250" dirty="0"/>
          </a:p>
        </p:txBody>
      </p:sp>
      <p:sp>
        <p:nvSpPr>
          <p:cNvPr id="16" name="Shape 14"/>
          <p:cNvSpPr/>
          <p:nvPr/>
        </p:nvSpPr>
        <p:spPr>
          <a:xfrm>
            <a:off x="4398264" y="3182112"/>
            <a:ext cx="3401568" cy="1078992"/>
          </a:xfrm>
          <a:prstGeom prst="roundRect">
            <a:avLst>
              <a:gd name="adj" fmla="val 6780"/>
            </a:avLst>
          </a:prstGeom>
          <a:solidFill>
            <a:srgbClr val="E2F3EC"/>
          </a:solidFill>
          <a:ln w="12700">
            <a:solidFill>
              <a:srgbClr val="E2F3EC"/>
            </a:solidFill>
            <a:prstDash val="solid"/>
          </a:ln>
        </p:spPr>
      </p:sp>
      <p:sp>
        <p:nvSpPr>
          <p:cNvPr id="17" name="Text 15"/>
          <p:cNvSpPr txBox="1"/>
          <p:nvPr/>
        </p:nvSpPr>
        <p:spPr>
          <a:xfrm>
            <a:off x="4654296" y="3364992"/>
            <a:ext cx="2889504" cy="310896"/>
          </a:xfrm>
          <a:prstGeom prst="rect">
            <a:avLst/>
          </a:prstGeom>
          <a:noFill/>
          <a:ln/>
        </p:spPr>
        <p:txBody>
          <a:bodyPr wrap="square" lIns="0" tIns="0" rIns="0" bIns="0" rtlCol="0" anchor="ctr"/>
          <a:lstStyle/>
          <a:p>
            <a:pPr indent="0" marL="0">
              <a:buNone/>
            </a:pPr>
            <a:r>
              <a:rPr lang="en-US" sz="1550" b="1" dirty="0">
                <a:solidFill>
                  <a:srgbClr val="1F8F68"/>
                </a:solidFill>
                <a:latin typeface="Yu Gothic" pitchFamily="34" charset="0"/>
                <a:ea typeface="Yu Gothic" pitchFamily="34" charset="-128"/>
                <a:ea typeface="Yu Gothic" pitchFamily="34" charset="-122"/>
                <a:cs typeface="Yu Gothic" pitchFamily="34" charset="-120"/>
              </a:rPr>
              <a:t>院内マニュアル</a:t>
            </a:r>
            <a:endParaRPr lang="en-US" sz="1550" dirty="0"/>
          </a:p>
        </p:txBody>
      </p:sp>
      <p:sp>
        <p:nvSpPr>
          <p:cNvPr id="18" name="Text 16"/>
          <p:cNvSpPr txBox="1"/>
          <p:nvPr/>
        </p:nvSpPr>
        <p:spPr>
          <a:xfrm>
            <a:off x="4654296" y="3712464"/>
            <a:ext cx="2889504" cy="411480"/>
          </a:xfrm>
          <a:prstGeom prst="rect">
            <a:avLst/>
          </a:prstGeom>
          <a:noFill/>
          <a:ln/>
        </p:spPr>
        <p:txBody>
          <a:bodyPr wrap="square" lIns="0" tIns="0" rIns="0" bIns="0" rtlCol="0" anchor="ctr"/>
          <a:lstStyle/>
          <a:p>
            <a:pPr indent="0" marL="0">
              <a:lnSpc>
                <a:spcPts val="1900"/>
              </a:lnSpc>
              <a:buNone/>
            </a:pPr>
            <a:r>
              <a:rPr lang="en-US" sz="1250" dirty="0">
                <a:solidFill>
                  <a:srgbClr val="1F2D37"/>
                </a:solidFill>
                <a:latin typeface="Yu Gothic" pitchFamily="34" charset="0"/>
                <a:ea typeface="Yu Gothic" pitchFamily="34" charset="-128"/>
                <a:ea typeface="Yu Gothic" pitchFamily="34" charset="-122"/>
                <a:cs typeface="Yu Gothic" pitchFamily="34" charset="-120"/>
              </a:rPr>
              <a:t>手順書、電話応対の型、新人向け資料</a:t>
            </a:r>
            <a:endParaRPr lang="en-US" sz="1250" dirty="0"/>
          </a:p>
        </p:txBody>
      </p:sp>
      <p:sp>
        <p:nvSpPr>
          <p:cNvPr id="19" name="Shape 17"/>
          <p:cNvSpPr/>
          <p:nvPr/>
        </p:nvSpPr>
        <p:spPr>
          <a:xfrm>
            <a:off x="8156448" y="3182112"/>
            <a:ext cx="3401568" cy="1078992"/>
          </a:xfrm>
          <a:prstGeom prst="roundRect">
            <a:avLst>
              <a:gd name="adj" fmla="val 6780"/>
            </a:avLst>
          </a:prstGeom>
          <a:solidFill>
            <a:srgbClr val="E2F3EC"/>
          </a:solidFill>
          <a:ln w="12700">
            <a:solidFill>
              <a:srgbClr val="E2F3EC"/>
            </a:solidFill>
            <a:prstDash val="solid"/>
          </a:ln>
        </p:spPr>
      </p:sp>
      <p:sp>
        <p:nvSpPr>
          <p:cNvPr id="20" name="Text 18"/>
          <p:cNvSpPr txBox="1"/>
          <p:nvPr/>
        </p:nvSpPr>
        <p:spPr>
          <a:xfrm>
            <a:off x="8412480" y="3364992"/>
            <a:ext cx="2889504" cy="310896"/>
          </a:xfrm>
          <a:prstGeom prst="rect">
            <a:avLst/>
          </a:prstGeom>
          <a:noFill/>
          <a:ln/>
        </p:spPr>
        <p:txBody>
          <a:bodyPr wrap="square" lIns="0" tIns="0" rIns="0" bIns="0" rtlCol="0" anchor="ctr"/>
          <a:lstStyle/>
          <a:p>
            <a:pPr indent="0" marL="0">
              <a:buNone/>
            </a:pPr>
            <a:r>
              <a:rPr lang="en-US" sz="1550" b="1" dirty="0">
                <a:solidFill>
                  <a:srgbClr val="1F8F68"/>
                </a:solidFill>
                <a:latin typeface="Yu Gothic" pitchFamily="34" charset="0"/>
                <a:ea typeface="Yu Gothic" pitchFamily="34" charset="-128"/>
                <a:ea typeface="Yu Gothic" pitchFamily="34" charset="-122"/>
                <a:cs typeface="Yu Gothic" pitchFamily="34" charset="-120"/>
              </a:rPr>
              <a:t>研修資料</a:t>
            </a:r>
            <a:endParaRPr lang="en-US" sz="1550" dirty="0"/>
          </a:p>
        </p:txBody>
      </p:sp>
      <p:sp>
        <p:nvSpPr>
          <p:cNvPr id="21" name="Text 19"/>
          <p:cNvSpPr txBox="1"/>
          <p:nvPr/>
        </p:nvSpPr>
        <p:spPr>
          <a:xfrm>
            <a:off x="8412480" y="3712464"/>
            <a:ext cx="2889504" cy="411480"/>
          </a:xfrm>
          <a:prstGeom prst="rect">
            <a:avLst/>
          </a:prstGeom>
          <a:noFill/>
          <a:ln/>
        </p:spPr>
        <p:txBody>
          <a:bodyPr wrap="square" lIns="0" tIns="0" rIns="0" bIns="0" rtlCol="0" anchor="ctr"/>
          <a:lstStyle/>
          <a:p>
            <a:pPr indent="0" marL="0">
              <a:lnSpc>
                <a:spcPts val="1900"/>
              </a:lnSpc>
              <a:buNone/>
            </a:pPr>
            <a:r>
              <a:rPr lang="en-US" sz="1250" dirty="0">
                <a:solidFill>
                  <a:srgbClr val="1F2D37"/>
                </a:solidFill>
                <a:latin typeface="Yu Gothic" pitchFamily="34" charset="0"/>
                <a:ea typeface="Yu Gothic" pitchFamily="34" charset="-128"/>
                <a:ea typeface="Yu Gothic" pitchFamily="34" charset="-122"/>
                <a:cs typeface="Yu Gothic" pitchFamily="34" charset="-120"/>
              </a:rPr>
              <a:t>スタッフ勉強会の資料づくり</a:t>
            </a:r>
            <a:endParaRPr lang="en-US" sz="1250" dirty="0"/>
          </a:p>
        </p:txBody>
      </p:sp>
      <p:sp>
        <p:nvSpPr>
          <p:cNvPr id="22" name="Shape 20"/>
          <p:cNvSpPr/>
          <p:nvPr/>
        </p:nvSpPr>
        <p:spPr>
          <a:xfrm>
            <a:off x="640080" y="4526280"/>
            <a:ext cx="10911535" cy="822960"/>
          </a:xfrm>
          <a:prstGeom prst="roundRect">
            <a:avLst>
              <a:gd name="adj" fmla="val 8889"/>
            </a:avLst>
          </a:prstGeom>
          <a:solidFill>
            <a:srgbClr val="F1F5F8"/>
          </a:solidFill>
          <a:ln w="12700">
            <a:solidFill>
              <a:srgbClr val="F1F5F8"/>
            </a:solidFill>
            <a:prstDash val="solid"/>
          </a:ln>
        </p:spPr>
      </p:sp>
      <p:sp>
        <p:nvSpPr>
          <p:cNvPr id="23" name="Text 21"/>
          <p:cNvSpPr txBox="1"/>
          <p:nvPr/>
        </p:nvSpPr>
        <p:spPr>
          <a:xfrm>
            <a:off x="914400" y="4681728"/>
            <a:ext cx="10362895" cy="512064"/>
          </a:xfrm>
          <a:prstGeom prst="rect">
            <a:avLst/>
          </a:prstGeom>
          <a:noFill/>
          <a:ln/>
        </p:spPr>
        <p:txBody>
          <a:bodyPr wrap="square" lIns="0" tIns="0" rIns="0" bIns="0" rtlCol="0" anchor="ctr"/>
          <a:lstStyle/>
          <a:p>
            <a:pPr indent="0" marL="0">
              <a:lnSpc>
                <a:spcPts val="2200"/>
              </a:lnSpc>
              <a:buNone/>
            </a:pPr>
            <a:r>
              <a:rPr lang="en-US" sz="1400" b="1" dirty="0">
                <a:solidFill>
                  <a:srgbClr val="0E3B4E"/>
                </a:solidFill>
                <a:latin typeface="Yu Gothic" pitchFamily="34" charset="0"/>
                <a:ea typeface="Yu Gothic" pitchFamily="34" charset="-128"/>
                <a:ea typeface="Yu Gothic" pitchFamily="34" charset="-122"/>
                <a:cs typeface="Yu Gothic" pitchFamily="34" charset="-120"/>
              </a:rPr>
              <a:t>ここで「AIはこの程度のことは書ける」という感覚を掴んでから、</a:t>
            </a:r>
            <a:pPr indent="0" marL="0">
              <a:lnSpc>
                <a:spcPts val="2200"/>
              </a:lnSpc>
              <a:buNone/>
            </a:pPr>
            <a:r>
              <a:rPr lang="en-US" sz="1400" dirty="0">
                <a:solidFill>
                  <a:srgbClr val="1F2D37"/>
                </a:solidFill>
                <a:latin typeface="Yu Gothic" pitchFamily="34" charset="0"/>
                <a:ea typeface="Yu Gothic" pitchFamily="34" charset="-128"/>
                <a:ea typeface="Yu Gothic" pitchFamily="34" charset="-122"/>
                <a:cs typeface="Yu Gothic" pitchFamily="34" charset="-120"/>
              </a:rPr>
              <a:t>患者情報を扱う工程に進むのが安全です。費用も契約も発生しないので、合わなければやめるだけで済みます。</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どの書類が多いかは、診療科で変わります</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同じ「書類が大変」でも中身は科によって別物です。効き方も変わります。</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27632"/>
          <a:ext cx="10911535" cy="914400"/>
        </p:xfrm>
        <a:graphic>
          <a:graphicData uri="http://schemas.openxmlformats.org/drawingml/2006/table">
            <a:tbl>
              <a:tblPr/>
              <a:tblGrid>
                <a:gridCol w="2103120"/>
                <a:gridCol w="4846320"/>
                <a:gridCol w="3959352"/>
              </a:tblGrid>
              <a:tr h="384048">
                <a:tc>
                  <a:txBody>
                    <a:bodyPr/>
                    <a:lstStyle/>
                    <a:p>
                      <a:pPr indent="0" marL="0">
                        <a:buNone/>
                      </a:pPr>
                      <a:r>
                        <a:rPr lang="en-US" sz="1300" b="1" dirty="0">
                          <a:solidFill>
                            <a:srgbClr val="FFFFFF"/>
                          </a:solidFill>
                          <a:latin typeface="Yu Gothic" pitchFamily="34" charset="0"/>
                          <a:ea typeface="Yu Gothic" pitchFamily="34" charset="-128"/>
                          <a:ea typeface="Yu Gothic" pitchFamily="34" charset="-122"/>
                          <a:cs typeface="Yu Gothic" pitchFamily="34" charset="-120"/>
                        </a:rPr>
                        <a:t>診療科</a:t>
                      </a:r>
                      <a:endParaRPr lang="en-US" sz="13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solidFill>
                      <a:srgbClr val="15607F"/>
                    </a:solidFill>
                  </a:tcPr>
                </a:tc>
                <a:tc>
                  <a:txBody>
                    <a:bodyPr/>
                    <a:lstStyle/>
                    <a:p>
                      <a:pPr indent="0" marL="0">
                        <a:buNone/>
                      </a:pPr>
                      <a:r>
                        <a:rPr lang="en-US" sz="1300" b="1" dirty="0">
                          <a:solidFill>
                            <a:srgbClr val="FFFFFF"/>
                          </a:solidFill>
                          <a:latin typeface="Yu Gothic" pitchFamily="34" charset="0"/>
                          <a:ea typeface="Yu Gothic" pitchFamily="34" charset="-128"/>
                          <a:ea typeface="Yu Gothic" pitchFamily="34" charset="-122"/>
                          <a:cs typeface="Yu Gothic" pitchFamily="34" charset="-120"/>
                        </a:rPr>
                        <a:t>特に多い書類</a:t>
                      </a:r>
                      <a:endParaRPr lang="en-US" sz="13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solidFill>
                      <a:srgbClr val="15607F"/>
                    </a:solidFill>
                  </a:tcPr>
                </a:tc>
                <a:tc>
                  <a:txBody>
                    <a:bodyPr/>
                    <a:lstStyle/>
                    <a:p>
                      <a:pPr indent="0" marL="0">
                        <a:buNone/>
                      </a:pPr>
                      <a:r>
                        <a:rPr lang="en-US" sz="1300" b="1" dirty="0">
                          <a:solidFill>
                            <a:srgbClr val="FFFFFF"/>
                          </a:solidFill>
                          <a:latin typeface="Yu Gothic" pitchFamily="34" charset="0"/>
                          <a:ea typeface="Yu Gothic" pitchFamily="34" charset="-128"/>
                          <a:ea typeface="Yu Gothic" pitchFamily="34" charset="-122"/>
                          <a:cs typeface="Yu Gothic" pitchFamily="34" charset="-120"/>
                        </a:rPr>
                        <a:t>AI化の効き方</a:t>
                      </a:r>
                      <a:endParaRPr lang="en-US" sz="13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solidFill>
                      <a:srgbClr val="15607F"/>
                    </a:solidFill>
                  </a:tcPr>
                </a:tc>
              </a:tr>
              <a:tr h="713232">
                <a:tc>
                  <a:txBody>
                    <a:bodyPr/>
                    <a:lstStyle/>
                    <a:p>
                      <a:pPr indent="0" marL="0">
                        <a:buNone/>
                      </a:pPr>
                      <a:r>
                        <a:rPr lang="en-US" sz="1200" b="1" dirty="0">
                          <a:solidFill>
                            <a:srgbClr val="0E3B4E"/>
                          </a:solidFill>
                          <a:latin typeface="Yu Gothic" pitchFamily="34" charset="0"/>
                          <a:ea typeface="Yu Gothic" pitchFamily="34" charset="-128"/>
                          <a:ea typeface="Yu Gothic" pitchFamily="34" charset="-122"/>
                          <a:cs typeface="Yu Gothic" pitchFamily="34" charset="-120"/>
                        </a:rPr>
                        <a:t>内科(在宅併設)</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1F2D37"/>
                          </a:solidFill>
                          <a:latin typeface="Yu Gothic" pitchFamily="34" charset="0"/>
                          <a:ea typeface="Yu Gothic" pitchFamily="34" charset="-128"/>
                          <a:ea typeface="Yu Gothic" pitchFamily="34" charset="-122"/>
                          <a:cs typeface="Yu Gothic" pitchFamily="34" charset="-120"/>
                        </a:rPr>
                        <a:t>主治医意見書、訪問看護指示書、訪問リハビリ指示書、居宅療養管理指導の報告書</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効果がいちばん見えやすい｜意見書と指示書だけで月10〜30通に達する院もあります</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r>
              <a:tr h="621792">
                <a:tc>
                  <a:txBody>
                    <a:bodyPr/>
                    <a:lstStyle/>
                    <a:p>
                      <a:pPr indent="0" marL="0">
                        <a:buNone/>
                      </a:pPr>
                      <a:r>
                        <a:rPr lang="en-US" sz="1200" b="1" dirty="0">
                          <a:solidFill>
                            <a:srgbClr val="0E3B4E"/>
                          </a:solidFill>
                          <a:latin typeface="Yu Gothic" pitchFamily="34" charset="0"/>
                          <a:ea typeface="Yu Gothic" pitchFamily="34" charset="-128"/>
                          <a:ea typeface="Yu Gothic" pitchFamily="34" charset="-122"/>
                          <a:cs typeface="Yu Gothic" pitchFamily="34" charset="-120"/>
                        </a:rPr>
                        <a:t>整形外科</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1F2D37"/>
                          </a:solidFill>
                          <a:latin typeface="Yu Gothic" pitchFamily="34" charset="0"/>
                          <a:ea typeface="Yu Gothic" pitchFamily="34" charset="-128"/>
                          <a:ea typeface="Yu Gothic" pitchFamily="34" charset="-122"/>
                          <a:cs typeface="Yu Gothic" pitchFamily="34" charset="-120"/>
                        </a:rPr>
                        <a:t>自賠責様式、後遺障害診断書、労災の様式5号・8号、装具作成の意見書</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効果あり｜1通あたりの手間が大きい書類が集中します</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r>
              <a:tr h="621792">
                <a:tc>
                  <a:txBody>
                    <a:bodyPr/>
                    <a:lstStyle/>
                    <a:p>
                      <a:pPr indent="0" marL="0">
                        <a:buNone/>
                      </a:pPr>
                      <a:r>
                        <a:rPr lang="en-US" sz="1200" b="1" dirty="0">
                          <a:solidFill>
                            <a:srgbClr val="0E3B4E"/>
                          </a:solidFill>
                          <a:latin typeface="Yu Gothic" pitchFamily="34" charset="0"/>
                          <a:ea typeface="Yu Gothic" pitchFamily="34" charset="-128"/>
                          <a:ea typeface="Yu Gothic" pitchFamily="34" charset="-122"/>
                          <a:cs typeface="Yu Gothic" pitchFamily="34" charset="-120"/>
                        </a:rPr>
                        <a:t>心療内科・精神科</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1F2D37"/>
                          </a:solidFill>
                          <a:latin typeface="Yu Gothic" pitchFamily="34" charset="0"/>
                          <a:ea typeface="Yu Gothic" pitchFamily="34" charset="-128"/>
                          <a:ea typeface="Yu Gothic" pitchFamily="34" charset="-122"/>
                          <a:cs typeface="Yu Gothic" pitchFamily="34" charset="-120"/>
                        </a:rPr>
                        <a:t>自立支援医療の診断書、障害年金の診断書、休職・復職の診断書</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時短が出やすい｜1通の記述量が多いぶん下書きの価値が大きい</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r>
              <a:tr h="621792">
                <a:tc>
                  <a:txBody>
                    <a:bodyPr/>
                    <a:lstStyle/>
                    <a:p>
                      <a:pPr indent="0" marL="0">
                        <a:buNone/>
                      </a:pPr>
                      <a:r>
                        <a:rPr lang="en-US" sz="1200" b="1" dirty="0">
                          <a:solidFill>
                            <a:srgbClr val="0E3B4E"/>
                          </a:solidFill>
                          <a:latin typeface="Yu Gothic" pitchFamily="34" charset="0"/>
                          <a:ea typeface="Yu Gothic" pitchFamily="34" charset="-128"/>
                          <a:ea typeface="Yu Gothic" pitchFamily="34" charset="-122"/>
                          <a:cs typeface="Yu Gothic" pitchFamily="34" charset="-120"/>
                        </a:rPr>
                        <a:t>小児科</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1F2D37"/>
                          </a:solidFill>
                          <a:latin typeface="Yu Gothic" pitchFamily="34" charset="0"/>
                          <a:ea typeface="Yu Gothic" pitchFamily="34" charset="-128"/>
                          <a:ea typeface="Yu Gothic" pitchFamily="34" charset="-122"/>
                          <a:cs typeface="Yu Gothic" pitchFamily="34" charset="-120"/>
                        </a:rPr>
                        <a:t>登園・登校許可証、食物アレルギーの生活管理指導表、予防接種</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効果あり｜定型が多くテンプレート化しやすい</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r>
              <a:tr h="621792">
                <a:tc>
                  <a:txBody>
                    <a:bodyPr/>
                    <a:lstStyle/>
                    <a:p>
                      <a:pPr indent="0" marL="0">
                        <a:buNone/>
                      </a:pPr>
                      <a:r>
                        <a:rPr lang="en-US" sz="1200" b="1" dirty="0">
                          <a:solidFill>
                            <a:srgbClr val="0E3B4E"/>
                          </a:solidFill>
                          <a:latin typeface="Yu Gothic" pitchFamily="34" charset="0"/>
                          <a:ea typeface="Yu Gothic" pitchFamily="34" charset="-128"/>
                          <a:ea typeface="Yu Gothic" pitchFamily="34" charset="-122"/>
                          <a:cs typeface="Yu Gothic" pitchFamily="34" charset="-120"/>
                        </a:rPr>
                        <a:t>耳鼻科・眼科・皮膚科</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1F2D37"/>
                          </a:solidFill>
                          <a:latin typeface="Yu Gothic" pitchFamily="34" charset="0"/>
                          <a:ea typeface="Yu Gothic" pitchFamily="34" charset="-128"/>
                          <a:ea typeface="Yu Gothic" pitchFamily="34" charset="-122"/>
                          <a:cs typeface="Yu Gothic" pitchFamily="34" charset="-120"/>
                        </a:rPr>
                        <a:t>学校健診後の受診報告書、補聴器適合の診断書 ほか</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c>
                  <a:txBody>
                    <a:bodyPr/>
                    <a:lstStyle/>
                    <a:p>
                      <a:pPr indent="0" marL="0">
                        <a:buNone/>
                      </a:pPr>
                      <a:r>
                        <a:rPr lang="en-US" sz="1200" dirty="0">
                          <a:solidFill>
                            <a:srgbClr val="5A6C79"/>
                          </a:solidFill>
                          <a:latin typeface="Yu Gothic" pitchFamily="34" charset="0"/>
                          <a:ea typeface="Yu Gothic" pitchFamily="34" charset="-128"/>
                          <a:ea typeface="Yu Gothic" pitchFamily="34" charset="-122"/>
                          <a:cs typeface="Yu Gothic" pitchFamily="34" charset="-120"/>
                        </a:rPr>
                        <a:t>書類より電話が主戦場｜予約と問い合わせの自動化が先に効きます</a:t>
                      </a:r>
                      <a:endParaRPr lang="en-US" sz="1200" dirty="0">
                        <a:latin typeface="Yu Gothic" charset="0"/>
                        <a:ea typeface="Yu Gothic" charset="0"/>
                        <a:cs typeface="Yu Gothic" charset="0"/>
                      </a:endParaRPr>
                    </a:p>
                  </a:txBody>
                  <a:tcPr marL="91440" marR="91440" marT="91440" marB="91440" anchor="ctr">
                    <a:lnL w="12700" cap="flat" cmpd="sng" algn="ctr">
                      <a:solidFill>
                        <a:srgbClr val="D2DFE8"/>
                      </a:solidFill>
                      <a:prstDash val="solid"/>
                      <a:round/>
                      <a:headEnd type="none" w="med" len="med"/>
                      <a:tailEnd type="none" w="med" len="med"/>
                    </a:lnL>
                    <a:lnR w="12700" cap="flat" cmpd="sng" algn="ctr">
                      <a:solidFill>
                        <a:srgbClr val="D2DFE8"/>
                      </a:solidFill>
                      <a:prstDash val="solid"/>
                      <a:round/>
                      <a:headEnd type="none" w="med" len="med"/>
                      <a:tailEnd type="none" w="med" len="med"/>
                    </a:lnR>
                    <a:lnT w="12700" cap="flat" cmpd="sng" algn="ctr">
                      <a:solidFill>
                        <a:srgbClr val="D2DFE8"/>
                      </a:solidFill>
                      <a:prstDash val="solid"/>
                      <a:round/>
                      <a:headEnd type="none" w="med" len="med"/>
                      <a:tailEnd type="none" w="med" len="med"/>
                    </a:lnT>
                    <a:lnB w="12700" cap="flat" cmpd="sng" algn="ctr">
                      <a:solidFill>
                        <a:srgbClr val="D2DFE8"/>
                      </a:solidFill>
                      <a:prstDash val="solid"/>
                      <a:round/>
                      <a:headEnd type="none" w="med" len="med"/>
                      <a:tailEnd type="none" w="med" len="med"/>
                    </a:lnB>
                  </a:tcPr>
                </a:tc>
              </a:tr>
            </a:tbl>
          </a:graphicData>
        </a:graphic>
      </p:graphicFrame>
      <p:sp>
        <p:nvSpPr>
          <p:cNvPr id="5" name="Text 2"/>
          <p:cNvSpPr txBox="1"/>
          <p:nvPr/>
        </p:nvSpPr>
        <p:spPr>
          <a:xfrm>
            <a:off x="640080" y="5532120"/>
            <a:ext cx="10911535" cy="640080"/>
          </a:xfrm>
          <a:prstGeom prst="rect">
            <a:avLst/>
          </a:prstGeom>
          <a:noFill/>
          <a:ln/>
        </p:spPr>
        <p:txBody>
          <a:bodyPr wrap="square" lIns="0" tIns="0" rIns="0" bIns="0" rtlCol="0" anchor="ctr"/>
          <a:lstStyle/>
          <a:p>
            <a:pPr indent="0" marL="0">
              <a:lnSpc>
                <a:spcPts val="2100"/>
              </a:lnSpc>
              <a:buNone/>
            </a:pPr>
            <a:r>
              <a:rPr lang="en-US" sz="1300" dirty="0">
                <a:solidFill>
                  <a:srgbClr val="1F2D37"/>
                </a:solidFill>
                <a:latin typeface="Yu Gothic" pitchFamily="34" charset="0"/>
                <a:ea typeface="Yu Gothic" pitchFamily="34" charset="-128"/>
                <a:ea typeface="Yu Gothic" pitchFamily="34" charset="-122"/>
                <a:cs typeface="Yu Gothic" pitchFamily="34" charset="-120"/>
              </a:rPr>
              <a:t>科を問わず出るものとして、紹介状と返書、各種診断書、傷病手当金の意見書、症状詳記があります。このうち紹介状・返書・症状詳記は、カルテの内容を書き直すだけなので最も相性がよい書類です。</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効果は、その場で計算できます</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抽象的な「業務効率化」ではなく、返ってくる時間を数字で出してから決めていただきます。必要なのは2つの数字だけです。</a:t>
            </a:r>
            <a:endParaRPr lang="en-US" sz="1300" dirty="0"/>
          </a:p>
        </p:txBody>
      </p:sp>
      <p:sp>
        <p:nvSpPr>
          <p:cNvPr id="4" name="Shape 2"/>
          <p:cNvSpPr/>
          <p:nvPr/>
        </p:nvSpPr>
        <p:spPr>
          <a:xfrm>
            <a:off x="640080" y="1691640"/>
            <a:ext cx="10911535" cy="658368"/>
          </a:xfrm>
          <a:prstGeom prst="roundRect">
            <a:avLst>
              <a:gd name="adj" fmla="val 11111"/>
            </a:avLst>
          </a:prstGeom>
          <a:solidFill>
            <a:srgbClr val="E3EFF4"/>
          </a:solidFill>
          <a:ln w="12700">
            <a:solidFill>
              <a:srgbClr val="E3EFF4"/>
            </a:solidFill>
            <a:prstDash val="solid"/>
          </a:ln>
        </p:spPr>
      </p:sp>
      <p:sp>
        <p:nvSpPr>
          <p:cNvPr id="5" name="Text 3"/>
          <p:cNvSpPr txBox="1"/>
          <p:nvPr/>
        </p:nvSpPr>
        <p:spPr>
          <a:xfrm>
            <a:off x="640080" y="1691640"/>
            <a:ext cx="10911535" cy="658368"/>
          </a:xfrm>
          <a:prstGeom prst="rect">
            <a:avLst/>
          </a:prstGeom>
          <a:noFill/>
          <a:ln/>
        </p:spPr>
        <p:txBody>
          <a:bodyPr wrap="square" lIns="0" tIns="0" rIns="0" bIns="0" rtlCol="0" anchor="ctr"/>
          <a:lstStyle/>
          <a:p>
            <a:pPr algn="ctr" indent="0" marL="0">
              <a:buNone/>
            </a:pPr>
            <a:r>
              <a:rPr lang="en-US" sz="1900" b="1" dirty="0">
                <a:solidFill>
                  <a:srgbClr val="15607F"/>
                </a:solidFill>
                <a:latin typeface="Yu Gothic" pitchFamily="34" charset="0"/>
                <a:ea typeface="Yu Gothic" pitchFamily="34" charset="-128"/>
                <a:ea typeface="Yu Gothic" pitchFamily="34" charset="-122"/>
                <a:cs typeface="Yu Gothic" pitchFamily="34" charset="-120"/>
              </a:rPr>
              <a:t>月に何通　×　1通に何分　×　削減できる割合　＝　毎月返ってくる時間</a:t>
            </a:r>
            <a:endParaRPr lang="en-US" sz="1900" dirty="0"/>
          </a:p>
        </p:txBody>
      </p:sp>
      <p:sp>
        <p:nvSpPr>
          <p:cNvPr id="6" name="Text 4"/>
          <p:cNvSpPr txBox="1"/>
          <p:nvPr/>
        </p:nvSpPr>
        <p:spPr>
          <a:xfrm>
            <a:off x="640080" y="2606040"/>
            <a:ext cx="6400800" cy="274320"/>
          </a:xfrm>
          <a:prstGeom prst="rect">
            <a:avLst/>
          </a:prstGeom>
          <a:noFill/>
          <a:ln/>
        </p:spPr>
        <p:txBody>
          <a:bodyPr wrap="square" lIns="0" tIns="0" rIns="0" bIns="0" rtlCol="0" anchor="ctr"/>
          <a:lstStyle/>
          <a:p>
            <a:pPr indent="0" marL="0">
              <a:buNone/>
            </a:pPr>
            <a:r>
              <a:rPr lang="en-US" sz="1200" b="1" spc="100" kern="0" dirty="0">
                <a:solidFill>
                  <a:srgbClr val="5A6C79"/>
                </a:solidFill>
                <a:latin typeface="Yu Gothic" pitchFamily="34" charset="0"/>
                <a:ea typeface="Yu Gothic" pitchFamily="34" charset="-128"/>
                <a:ea typeface="Yu Gothic" pitchFamily="34" charset="-122"/>
                <a:cs typeface="Yu Gothic" pitchFamily="34" charset="-120"/>
              </a:rPr>
              <a:t>在宅を併設した内科での一例</a:t>
            </a:r>
            <a:endParaRPr lang="en-US" sz="1200" dirty="0"/>
          </a:p>
        </p:txBody>
      </p:sp>
      <p:sp>
        <p:nvSpPr>
          <p:cNvPr id="7" name="Text 5"/>
          <p:cNvSpPr txBox="1"/>
          <p:nvPr/>
        </p:nvSpPr>
        <p:spPr>
          <a:xfrm>
            <a:off x="640080" y="2971800"/>
            <a:ext cx="2286000" cy="384048"/>
          </a:xfrm>
          <a:prstGeom prst="rect">
            <a:avLst/>
          </a:prstGeom>
          <a:noFill/>
          <a:ln/>
        </p:spPr>
        <p:txBody>
          <a:bodyPr wrap="square" lIns="0" tIns="0" rIns="0" bIns="0" rtlCol="0" anchor="ctr"/>
          <a:lstStyle/>
          <a:p>
            <a:pPr indent="0" marL="0">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主治医意見書</a:t>
            </a:r>
            <a:endParaRPr lang="en-US" sz="1450" dirty="0"/>
          </a:p>
        </p:txBody>
      </p:sp>
      <p:sp>
        <p:nvSpPr>
          <p:cNvPr id="8" name="Text 6"/>
          <p:cNvSpPr txBox="1"/>
          <p:nvPr/>
        </p:nvSpPr>
        <p:spPr>
          <a:xfrm>
            <a:off x="2926080" y="2971800"/>
            <a:ext cx="1188720" cy="384048"/>
          </a:xfrm>
          <a:prstGeom prst="rect">
            <a:avLst/>
          </a:prstGeom>
          <a:noFill/>
          <a:ln/>
        </p:spPr>
        <p:txBody>
          <a:bodyPr wrap="square" lIns="0" tIns="0" rIns="0" bIns="0" rtlCol="0" anchor="ctr"/>
          <a:lstStyle/>
          <a:p>
            <a:pPr algn="r" indent="0" marL="0">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月20通</a:t>
            </a:r>
            <a:endParaRPr lang="en-US" sz="1450" dirty="0"/>
          </a:p>
        </p:txBody>
      </p:sp>
      <p:sp>
        <p:nvSpPr>
          <p:cNvPr id="9" name="Text 7"/>
          <p:cNvSpPr txBox="1"/>
          <p:nvPr/>
        </p:nvSpPr>
        <p:spPr>
          <a:xfrm>
            <a:off x="4160520" y="2971800"/>
            <a:ext cx="1188720" cy="384048"/>
          </a:xfrm>
          <a:prstGeom prst="rect">
            <a:avLst/>
          </a:prstGeom>
          <a:noFill/>
          <a:ln/>
        </p:spPr>
        <p:txBody>
          <a:bodyPr wrap="square" lIns="0" tIns="0" rIns="0" bIns="0" rtlCol="0" anchor="ctr"/>
          <a:lstStyle/>
          <a:p>
            <a:pPr algn="r" indent="0" marL="0">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 25分</a:t>
            </a:r>
            <a:endParaRPr lang="en-US" sz="1450" dirty="0"/>
          </a:p>
        </p:txBody>
      </p:sp>
      <p:sp>
        <p:nvSpPr>
          <p:cNvPr id="10" name="Text 8"/>
          <p:cNvSpPr txBox="1"/>
          <p:nvPr/>
        </p:nvSpPr>
        <p:spPr>
          <a:xfrm>
            <a:off x="5394960" y="2971800"/>
            <a:ext cx="1463040" cy="384048"/>
          </a:xfrm>
          <a:prstGeom prst="rect">
            <a:avLst/>
          </a:prstGeom>
          <a:noFill/>
          <a:ln/>
        </p:spPr>
        <p:txBody>
          <a:bodyPr wrap="square" lIns="0" tIns="0" rIns="0" bIns="0" rtlCol="0" anchor="ctr"/>
          <a:lstStyle/>
          <a:p>
            <a:pPr algn="r" indent="0" marL="0">
              <a:buNone/>
            </a:pPr>
            <a:r>
              <a:rPr lang="en-US" sz="1450" b="1" dirty="0">
                <a:solidFill>
                  <a:srgbClr val="0E3B4E"/>
                </a:solidFill>
                <a:latin typeface="Yu Gothic" pitchFamily="34" charset="0"/>
                <a:ea typeface="Yu Gothic" pitchFamily="34" charset="-128"/>
                <a:ea typeface="Yu Gothic" pitchFamily="34" charset="-122"/>
                <a:cs typeface="Yu Gothic" pitchFamily="34" charset="-120"/>
              </a:rPr>
              <a:t>500分</a:t>
            </a:r>
            <a:endParaRPr lang="en-US" sz="1450" dirty="0"/>
          </a:p>
        </p:txBody>
      </p:sp>
      <p:sp>
        <p:nvSpPr>
          <p:cNvPr id="11" name="Shape 9"/>
          <p:cNvSpPr/>
          <p:nvPr/>
        </p:nvSpPr>
        <p:spPr>
          <a:xfrm>
            <a:off x="640080" y="3392424"/>
            <a:ext cx="6217920" cy="0"/>
          </a:xfrm>
          <a:prstGeom prst="line">
            <a:avLst/>
          </a:prstGeom>
          <a:noFill/>
          <a:ln w="12700">
            <a:solidFill>
              <a:srgbClr val="D2DFE8"/>
            </a:solidFill>
            <a:prstDash val="solid"/>
          </a:ln>
        </p:spPr>
      </p:sp>
      <p:sp>
        <p:nvSpPr>
          <p:cNvPr id="12" name="Text 10"/>
          <p:cNvSpPr txBox="1"/>
          <p:nvPr/>
        </p:nvSpPr>
        <p:spPr>
          <a:xfrm>
            <a:off x="640080" y="3447288"/>
            <a:ext cx="2286000" cy="384048"/>
          </a:xfrm>
          <a:prstGeom prst="rect">
            <a:avLst/>
          </a:prstGeom>
          <a:noFill/>
          <a:ln/>
        </p:spPr>
        <p:txBody>
          <a:bodyPr wrap="square" lIns="0" tIns="0" rIns="0" bIns="0" rtlCol="0" anchor="ctr"/>
          <a:lstStyle/>
          <a:p>
            <a:pPr indent="0" marL="0">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訪問看護指示書</a:t>
            </a:r>
            <a:endParaRPr lang="en-US" sz="1450" dirty="0"/>
          </a:p>
        </p:txBody>
      </p:sp>
      <p:sp>
        <p:nvSpPr>
          <p:cNvPr id="13" name="Text 11"/>
          <p:cNvSpPr txBox="1"/>
          <p:nvPr/>
        </p:nvSpPr>
        <p:spPr>
          <a:xfrm>
            <a:off x="2926080" y="3447288"/>
            <a:ext cx="1188720" cy="384048"/>
          </a:xfrm>
          <a:prstGeom prst="rect">
            <a:avLst/>
          </a:prstGeom>
          <a:noFill/>
          <a:ln/>
        </p:spPr>
        <p:txBody>
          <a:bodyPr wrap="square" lIns="0" tIns="0" rIns="0" bIns="0" rtlCol="0" anchor="ctr"/>
          <a:lstStyle/>
          <a:p>
            <a:pPr algn="r" indent="0" marL="0">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月10通</a:t>
            </a:r>
            <a:endParaRPr lang="en-US" sz="1450" dirty="0"/>
          </a:p>
        </p:txBody>
      </p:sp>
      <p:sp>
        <p:nvSpPr>
          <p:cNvPr id="14" name="Text 12"/>
          <p:cNvSpPr txBox="1"/>
          <p:nvPr/>
        </p:nvSpPr>
        <p:spPr>
          <a:xfrm>
            <a:off x="4160520" y="3447288"/>
            <a:ext cx="1188720" cy="384048"/>
          </a:xfrm>
          <a:prstGeom prst="rect">
            <a:avLst/>
          </a:prstGeom>
          <a:noFill/>
          <a:ln/>
        </p:spPr>
        <p:txBody>
          <a:bodyPr wrap="square" lIns="0" tIns="0" rIns="0" bIns="0" rtlCol="0" anchor="ctr"/>
          <a:lstStyle/>
          <a:p>
            <a:pPr algn="r" indent="0" marL="0">
              <a:buNone/>
            </a:pPr>
            <a:r>
              <a:rPr lang="en-US" sz="1450" dirty="0">
                <a:solidFill>
                  <a:srgbClr val="1F2D37"/>
                </a:solidFill>
                <a:latin typeface="Yu Gothic" pitchFamily="34" charset="0"/>
                <a:ea typeface="Yu Gothic" pitchFamily="34" charset="-128"/>
                <a:ea typeface="Yu Gothic" pitchFamily="34" charset="-122"/>
                <a:cs typeface="Yu Gothic" pitchFamily="34" charset="-120"/>
              </a:rPr>
              <a:t>× 20分</a:t>
            </a:r>
            <a:endParaRPr lang="en-US" sz="1450" dirty="0"/>
          </a:p>
        </p:txBody>
      </p:sp>
      <p:sp>
        <p:nvSpPr>
          <p:cNvPr id="15" name="Text 13"/>
          <p:cNvSpPr txBox="1"/>
          <p:nvPr/>
        </p:nvSpPr>
        <p:spPr>
          <a:xfrm>
            <a:off x="5394960" y="3447288"/>
            <a:ext cx="1463040" cy="384048"/>
          </a:xfrm>
          <a:prstGeom prst="rect">
            <a:avLst/>
          </a:prstGeom>
          <a:noFill/>
          <a:ln/>
        </p:spPr>
        <p:txBody>
          <a:bodyPr wrap="square" lIns="0" tIns="0" rIns="0" bIns="0" rtlCol="0" anchor="ctr"/>
          <a:lstStyle/>
          <a:p>
            <a:pPr algn="r" indent="0" marL="0">
              <a:buNone/>
            </a:pPr>
            <a:r>
              <a:rPr lang="en-US" sz="1450" b="1" dirty="0">
                <a:solidFill>
                  <a:srgbClr val="0E3B4E"/>
                </a:solidFill>
                <a:latin typeface="Yu Gothic" pitchFamily="34" charset="0"/>
                <a:ea typeface="Yu Gothic" pitchFamily="34" charset="-128"/>
                <a:ea typeface="Yu Gothic" pitchFamily="34" charset="-122"/>
                <a:cs typeface="Yu Gothic" pitchFamily="34" charset="-120"/>
              </a:rPr>
              <a:t>200分</a:t>
            </a:r>
            <a:endParaRPr lang="en-US" sz="1450" dirty="0"/>
          </a:p>
        </p:txBody>
      </p:sp>
      <p:sp>
        <p:nvSpPr>
          <p:cNvPr id="16" name="Shape 14"/>
          <p:cNvSpPr/>
          <p:nvPr/>
        </p:nvSpPr>
        <p:spPr>
          <a:xfrm>
            <a:off x="640080" y="3867912"/>
            <a:ext cx="6217920" cy="0"/>
          </a:xfrm>
          <a:prstGeom prst="line">
            <a:avLst/>
          </a:prstGeom>
          <a:noFill/>
          <a:ln w="12700">
            <a:solidFill>
              <a:srgbClr val="D2DFE8"/>
            </a:solidFill>
            <a:prstDash val="solid"/>
          </a:ln>
        </p:spPr>
      </p:sp>
      <p:sp>
        <p:nvSpPr>
          <p:cNvPr id="17" name="Text 15"/>
          <p:cNvSpPr txBox="1"/>
          <p:nvPr/>
        </p:nvSpPr>
        <p:spPr>
          <a:xfrm>
            <a:off x="640080" y="3959352"/>
            <a:ext cx="2286000" cy="384048"/>
          </a:xfrm>
          <a:prstGeom prst="rect">
            <a:avLst/>
          </a:prstGeom>
          <a:noFill/>
          <a:ln/>
        </p:spPr>
        <p:txBody>
          <a:bodyPr wrap="square" lIns="0" tIns="0" rIns="0" bIns="0" rtlCol="0" anchor="ctr"/>
          <a:lstStyle/>
          <a:p>
            <a:pPr indent="0" marL="0">
              <a:buNone/>
            </a:pPr>
            <a:r>
              <a:rPr lang="en-US" sz="1450" b="1" dirty="0">
                <a:solidFill>
                  <a:srgbClr val="1F2D37"/>
                </a:solidFill>
                <a:latin typeface="Yu Gothic" pitchFamily="34" charset="0"/>
                <a:ea typeface="Yu Gothic" pitchFamily="34" charset="-128"/>
                <a:ea typeface="Yu Gothic" pitchFamily="34" charset="-122"/>
                <a:cs typeface="Yu Gothic" pitchFamily="34" charset="-120"/>
              </a:rPr>
              <a:t>合計</a:t>
            </a:r>
            <a:endParaRPr lang="en-US" sz="1450" dirty="0"/>
          </a:p>
        </p:txBody>
      </p:sp>
      <p:sp>
        <p:nvSpPr>
          <p:cNvPr id="18" name="Text 16"/>
          <p:cNvSpPr txBox="1"/>
          <p:nvPr/>
        </p:nvSpPr>
        <p:spPr>
          <a:xfrm>
            <a:off x="4160520" y="3959352"/>
            <a:ext cx="2697480" cy="384048"/>
          </a:xfrm>
          <a:prstGeom prst="rect">
            <a:avLst/>
          </a:prstGeom>
          <a:noFill/>
          <a:ln/>
        </p:spPr>
        <p:txBody>
          <a:bodyPr wrap="square" lIns="0" tIns="0" rIns="0" bIns="0" rtlCol="0" anchor="ctr"/>
          <a:lstStyle/>
          <a:p>
            <a:pPr algn="r" indent="0" marL="0">
              <a:buNone/>
            </a:pPr>
            <a:r>
              <a:rPr lang="en-US" sz="1550" b="1" dirty="0">
                <a:solidFill>
                  <a:srgbClr val="0E3B4E"/>
                </a:solidFill>
                <a:latin typeface="Yu Gothic" pitchFamily="34" charset="0"/>
                <a:ea typeface="Yu Gothic" pitchFamily="34" charset="-128"/>
                <a:ea typeface="Yu Gothic" pitchFamily="34" charset="-122"/>
                <a:cs typeface="Yu Gothic" pitchFamily="34" charset="-120"/>
              </a:rPr>
              <a:t>700分 ≒ 11.7時間</a:t>
            </a:r>
            <a:endParaRPr lang="en-US" sz="1550" dirty="0"/>
          </a:p>
        </p:txBody>
      </p:sp>
      <p:sp>
        <p:nvSpPr>
          <p:cNvPr id="19" name="Shape 17"/>
          <p:cNvSpPr/>
          <p:nvPr/>
        </p:nvSpPr>
        <p:spPr>
          <a:xfrm>
            <a:off x="7315200" y="2606040"/>
            <a:ext cx="4233672" cy="1828800"/>
          </a:xfrm>
          <a:prstGeom prst="roundRect">
            <a:avLst>
              <a:gd name="adj" fmla="val 4000"/>
            </a:avLst>
          </a:prstGeom>
          <a:solidFill>
            <a:srgbClr val="E2F3EC"/>
          </a:solidFill>
          <a:ln w="12700">
            <a:solidFill>
              <a:srgbClr val="E2F3EC"/>
            </a:solidFill>
            <a:prstDash val="solid"/>
          </a:ln>
        </p:spPr>
      </p:sp>
      <p:sp>
        <p:nvSpPr>
          <p:cNvPr id="20" name="Text 18"/>
          <p:cNvSpPr txBox="1"/>
          <p:nvPr/>
        </p:nvSpPr>
        <p:spPr>
          <a:xfrm>
            <a:off x="7315200" y="2788920"/>
            <a:ext cx="4233672" cy="310896"/>
          </a:xfrm>
          <a:prstGeom prst="rect">
            <a:avLst/>
          </a:prstGeom>
          <a:noFill/>
          <a:ln/>
        </p:spPr>
        <p:txBody>
          <a:bodyPr wrap="square" lIns="0" tIns="0" rIns="0" bIns="0" rtlCol="0" anchor="ctr"/>
          <a:lstStyle/>
          <a:p>
            <a:pPr algn="ctr" indent="0" marL="0">
              <a:buNone/>
            </a:pPr>
            <a:r>
              <a:rPr lang="en-US" sz="1400" dirty="0">
                <a:solidFill>
                  <a:srgbClr val="1F8F68"/>
                </a:solidFill>
                <a:latin typeface="Yu Gothic" pitchFamily="34" charset="0"/>
                <a:ea typeface="Yu Gothic" pitchFamily="34" charset="-128"/>
                <a:ea typeface="Yu Gothic" pitchFamily="34" charset="-122"/>
                <a:cs typeface="Yu Gothic" pitchFamily="34" charset="-120"/>
              </a:rPr>
              <a:t>下書きで半分になれば</a:t>
            </a:r>
            <a:endParaRPr lang="en-US" sz="1400" dirty="0"/>
          </a:p>
        </p:txBody>
      </p:sp>
      <p:sp>
        <p:nvSpPr>
          <p:cNvPr id="21" name="Text 19"/>
          <p:cNvSpPr txBox="1"/>
          <p:nvPr/>
        </p:nvSpPr>
        <p:spPr>
          <a:xfrm>
            <a:off x="7315200" y="3127248"/>
            <a:ext cx="4233672" cy="658368"/>
          </a:xfrm>
          <a:prstGeom prst="rect">
            <a:avLst/>
          </a:prstGeom>
          <a:noFill/>
          <a:ln/>
        </p:spPr>
        <p:txBody>
          <a:bodyPr wrap="square" lIns="0" tIns="0" rIns="0" bIns="0" rtlCol="0" anchor="ctr"/>
          <a:lstStyle/>
          <a:p>
            <a:pPr algn="ctr" indent="0" marL="0">
              <a:buNone/>
            </a:pPr>
            <a:r>
              <a:rPr lang="en-US" sz="3200" b="1" dirty="0">
                <a:solidFill>
                  <a:srgbClr val="1F8F68"/>
                </a:solidFill>
                <a:latin typeface="Yu Gothic" pitchFamily="34" charset="0"/>
                <a:ea typeface="Yu Gothic" pitchFamily="34" charset="-128"/>
                <a:ea typeface="Yu Gothic" pitchFamily="34" charset="-122"/>
                <a:cs typeface="Yu Gothic" pitchFamily="34" charset="-120"/>
              </a:rPr>
              <a:t>月およそ6時間</a:t>
            </a:r>
            <a:endParaRPr lang="en-US" sz="3200" dirty="0"/>
          </a:p>
        </p:txBody>
      </p:sp>
      <p:sp>
        <p:nvSpPr>
          <p:cNvPr id="22" name="Text 20"/>
          <p:cNvSpPr txBox="1"/>
          <p:nvPr/>
        </p:nvSpPr>
        <p:spPr>
          <a:xfrm>
            <a:off x="7315200" y="3840480"/>
            <a:ext cx="4233672" cy="365760"/>
          </a:xfrm>
          <a:prstGeom prst="rect">
            <a:avLst/>
          </a:prstGeom>
          <a:noFill/>
          <a:ln/>
        </p:spPr>
        <p:txBody>
          <a:bodyPr wrap="square" lIns="0" tIns="0" rIns="0" bIns="0" rtlCol="0" anchor="ctr"/>
          <a:lstStyle/>
          <a:p>
            <a:pPr algn="ctr" indent="0" marL="0">
              <a:buNone/>
            </a:pPr>
            <a:r>
              <a:rPr lang="en-US" sz="1400" dirty="0">
                <a:solidFill>
                  <a:srgbClr val="1F2D37"/>
                </a:solidFill>
                <a:latin typeface="Yu Gothic" pitchFamily="34" charset="0"/>
                <a:ea typeface="Yu Gothic" pitchFamily="34" charset="-128"/>
                <a:ea typeface="Yu Gothic" pitchFamily="34" charset="-122"/>
                <a:cs typeface="Yu Gothic" pitchFamily="34" charset="-120"/>
              </a:rPr>
              <a:t>先生の手元に返ります</a:t>
            </a:r>
            <a:endParaRPr lang="en-US" sz="1400" dirty="0"/>
          </a:p>
        </p:txBody>
      </p:sp>
      <p:sp>
        <p:nvSpPr>
          <p:cNvPr id="23" name="Shape 21"/>
          <p:cNvSpPr/>
          <p:nvPr/>
        </p:nvSpPr>
        <p:spPr>
          <a:xfrm>
            <a:off x="640080" y="4709160"/>
            <a:ext cx="10911535" cy="914400"/>
          </a:xfrm>
          <a:prstGeom prst="roundRect">
            <a:avLst>
              <a:gd name="adj" fmla="val 8000"/>
            </a:avLst>
          </a:prstGeom>
          <a:solidFill>
            <a:srgbClr val="F1F5F8"/>
          </a:solidFill>
          <a:ln w="12700">
            <a:solidFill>
              <a:srgbClr val="F1F5F8"/>
            </a:solidFill>
            <a:prstDash val="solid"/>
          </a:ln>
        </p:spPr>
      </p:sp>
      <p:sp>
        <p:nvSpPr>
          <p:cNvPr id="24" name="Text 22"/>
          <p:cNvSpPr txBox="1"/>
          <p:nvPr/>
        </p:nvSpPr>
        <p:spPr>
          <a:xfrm>
            <a:off x="914400" y="4864608"/>
            <a:ext cx="10362895" cy="603504"/>
          </a:xfrm>
          <a:prstGeom prst="rect">
            <a:avLst/>
          </a:prstGeom>
          <a:noFill/>
          <a:ln/>
        </p:spPr>
        <p:txBody>
          <a:bodyPr wrap="square" lIns="0" tIns="0" rIns="0" bIns="0" rtlCol="0" anchor="ctr"/>
          <a:lstStyle/>
          <a:p>
            <a:pPr indent="0" marL="0">
              <a:lnSpc>
                <a:spcPts val="2200"/>
              </a:lnSpc>
              <a:buNone/>
            </a:pPr>
            <a:r>
              <a:rPr lang="en-US" sz="1400" b="1" dirty="0">
                <a:solidFill>
                  <a:srgbClr val="0E3B4E"/>
                </a:solidFill>
                <a:latin typeface="Yu Gothic" pitchFamily="34" charset="0"/>
                <a:ea typeface="Yu Gothic" pitchFamily="34" charset="-128"/>
                <a:ea typeface="Yu Gothic" pitchFamily="34" charset="-122"/>
                <a:cs typeface="Yu Gothic" pitchFamily="34" charset="-120"/>
              </a:rPr>
              <a:t>判断の基準は単純です。</a:t>
            </a:r>
            <a:pPr indent="0" marL="0">
              <a:lnSpc>
                <a:spcPts val="2200"/>
              </a:lnSpc>
              <a:buNone/>
            </a:pPr>
            <a:r>
              <a:rPr lang="en-US" sz="1400" dirty="0">
                <a:solidFill>
                  <a:srgbClr val="1F2D37"/>
                </a:solidFill>
                <a:latin typeface="Yu Gothic" pitchFamily="34" charset="0"/>
                <a:ea typeface="Yu Gothic" pitchFamily="34" charset="-128"/>
                <a:ea typeface="Yu Gothic" pitchFamily="34" charset="-122"/>
                <a:cs typeface="Yu Gothic" pitchFamily="34" charset="-120"/>
              </a:rPr>
              <a:t>事務スタッフ半人分の人件費より軽い負担で、それ以上の時間が返るかどうか。返らないなら、入れないほうがいいとお伝えします。</a:t>
            </a:r>
            <a:endParaRPr lang="en-US" sz="1400" dirty="0"/>
          </a:p>
        </p:txBody>
      </p:sp>
      <p:sp>
        <p:nvSpPr>
          <p:cNvPr id="25" name="Text 23"/>
          <p:cNvSpPr txBox="1"/>
          <p:nvPr/>
        </p:nvSpPr>
        <p:spPr>
          <a:xfrm>
            <a:off x="640080" y="5742432"/>
            <a:ext cx="10911535" cy="320040"/>
          </a:xfrm>
          <a:prstGeom prst="rect">
            <a:avLst/>
          </a:prstGeom>
          <a:noFill/>
          <a:ln/>
        </p:spPr>
        <p:txBody>
          <a:bodyPr wrap="square" lIns="0" tIns="0" rIns="0" bIns="0" rtlCol="0" anchor="ctr"/>
          <a:lstStyle/>
          <a:p>
            <a:pPr indent="0" marL="0">
              <a:buNone/>
            </a:pPr>
            <a:r>
              <a:rPr lang="en-US" sz="1150" dirty="0">
                <a:solidFill>
                  <a:srgbClr val="5A6C79"/>
                </a:solidFill>
                <a:latin typeface="Yu Gothic" pitchFamily="34" charset="0"/>
                <a:ea typeface="Yu Gothic" pitchFamily="34" charset="-128"/>
                <a:ea typeface="Yu Gothic" pitchFamily="34" charset="-122"/>
                <a:cs typeface="Yu Gothic" pitchFamily="34" charset="-120"/>
              </a:rPr>
              <a:t>通数と所要時間は院によって大きく違います。ヒアリングで貴院の数字に置き換えて計算します。</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AIにできないこと、させてはいけないこと</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できることと同じだけ、はっきりさせておくべき部分です。</a:t>
            </a:r>
            <a:endParaRPr lang="en-US" sz="1300" dirty="0"/>
          </a:p>
        </p:txBody>
      </p:sp>
      <p:sp>
        <p:nvSpPr>
          <p:cNvPr id="4" name="Shape 2"/>
          <p:cNvSpPr/>
          <p:nvPr/>
        </p:nvSpPr>
        <p:spPr>
          <a:xfrm>
            <a:off x="640080" y="1847088"/>
            <a:ext cx="5440680" cy="1938528"/>
          </a:xfrm>
          <a:prstGeom prst="roundRect">
            <a:avLst>
              <a:gd name="adj" fmla="val 3774"/>
            </a:avLst>
          </a:prstGeom>
          <a:solidFill>
            <a:srgbClr val="FFFFFF"/>
          </a:solidFill>
          <a:ln w="12700">
            <a:solidFill>
              <a:srgbClr val="D2DFE8"/>
            </a:solidFill>
            <a:prstDash val="solid"/>
          </a:ln>
        </p:spPr>
      </p:sp>
      <p:sp>
        <p:nvSpPr>
          <p:cNvPr id="5" name="Text 3"/>
          <p:cNvSpPr txBox="1"/>
          <p:nvPr/>
        </p:nvSpPr>
        <p:spPr>
          <a:xfrm>
            <a:off x="914400" y="2066544"/>
            <a:ext cx="4892040" cy="384048"/>
          </a:xfrm>
          <a:prstGeom prst="rect">
            <a:avLst/>
          </a:prstGeom>
          <a:noFill/>
          <a:ln/>
        </p:spPr>
        <p:txBody>
          <a:bodyPr wrap="square" lIns="0" tIns="0" rIns="0" bIns="0" rtlCol="0" anchor="ctr"/>
          <a:lstStyle/>
          <a:p>
            <a:pPr indent="0" marL="0">
              <a:lnSpc>
                <a:spcPts val="2200"/>
              </a:lnSpc>
              <a:buNone/>
            </a:pPr>
            <a:r>
              <a:rPr lang="en-US" sz="1650" b="1" dirty="0">
                <a:solidFill>
                  <a:srgbClr val="0E3B4E"/>
                </a:solidFill>
                <a:latin typeface="Yu Gothic" pitchFamily="34" charset="0"/>
                <a:ea typeface="Yu Gothic" pitchFamily="34" charset="-128"/>
                <a:ea typeface="Yu Gothic" pitchFamily="34" charset="-122"/>
                <a:cs typeface="Yu Gothic" pitchFamily="34" charset="-120"/>
              </a:rPr>
              <a:t>診察・診断・治療の判断</a:t>
            </a:r>
            <a:endParaRPr lang="en-US" sz="1650" dirty="0"/>
          </a:p>
        </p:txBody>
      </p:sp>
      <p:sp>
        <p:nvSpPr>
          <p:cNvPr id="6" name="Shape 4"/>
          <p:cNvSpPr/>
          <p:nvPr/>
        </p:nvSpPr>
        <p:spPr>
          <a:xfrm>
            <a:off x="914400" y="2505456"/>
            <a:ext cx="2286000" cy="274320"/>
          </a:xfrm>
          <a:prstGeom prst="roundRect">
            <a:avLst>
              <a:gd name="adj" fmla="val 20000"/>
            </a:avLst>
          </a:prstGeom>
          <a:solidFill>
            <a:srgbClr val="E6ECF0"/>
          </a:solidFill>
          <a:ln w="12700">
            <a:solidFill>
              <a:srgbClr val="E6ECF0"/>
            </a:solidFill>
            <a:prstDash val="solid"/>
          </a:ln>
        </p:spPr>
      </p:sp>
      <p:sp>
        <p:nvSpPr>
          <p:cNvPr id="7" name="Text 5"/>
          <p:cNvSpPr txBox="1"/>
          <p:nvPr/>
        </p:nvSpPr>
        <p:spPr>
          <a:xfrm>
            <a:off x="914400" y="2505456"/>
            <a:ext cx="2286000" cy="274320"/>
          </a:xfrm>
          <a:prstGeom prst="rect">
            <a:avLst/>
          </a:prstGeom>
          <a:noFill/>
          <a:ln/>
        </p:spPr>
        <p:txBody>
          <a:bodyPr wrap="square" lIns="0" tIns="0" rIns="0" bIns="0" rtlCol="0" anchor="ctr"/>
          <a:lstStyle/>
          <a:p>
            <a:pPr algn="ctr" indent="0" marL="0">
              <a:buNone/>
            </a:pPr>
            <a:r>
              <a:rPr lang="en-US" sz="1100" b="1" dirty="0">
                <a:solidFill>
                  <a:srgbClr val="506270"/>
                </a:solidFill>
                <a:latin typeface="Yu Gothic" pitchFamily="34" charset="0"/>
                <a:ea typeface="Yu Gothic" pitchFamily="34" charset="-128"/>
                <a:ea typeface="Yu Gothic" pitchFamily="34" charset="-122"/>
                <a:cs typeface="Yu Gothic" pitchFamily="34" charset="-120"/>
              </a:rPr>
              <a:t>医師法17条</a:t>
            </a:r>
            <a:endParaRPr lang="en-US" sz="1100" dirty="0"/>
          </a:p>
        </p:txBody>
      </p:sp>
      <p:sp>
        <p:nvSpPr>
          <p:cNvPr id="8" name="Text 6"/>
          <p:cNvSpPr txBox="1"/>
          <p:nvPr/>
        </p:nvSpPr>
        <p:spPr>
          <a:xfrm>
            <a:off x="914400" y="2907792"/>
            <a:ext cx="4892040" cy="786384"/>
          </a:xfrm>
          <a:prstGeom prst="rect">
            <a:avLst/>
          </a:prstGeom>
          <a:noFill/>
          <a:ln/>
        </p:spPr>
        <p:txBody>
          <a:bodyPr wrap="square" lIns="0" tIns="0" rIns="0" bIns="0" rtlCol="0" anchor="ctr"/>
          <a:lstStyle/>
          <a:p>
            <a:pPr indent="0" marL="0">
              <a:lnSpc>
                <a:spcPts val="2000"/>
              </a:lnSpc>
              <a:buNone/>
            </a:pPr>
            <a:r>
              <a:rPr lang="en-US" sz="1300" dirty="0">
                <a:solidFill>
                  <a:srgbClr val="1F2D37"/>
                </a:solidFill>
                <a:latin typeface="Yu Gothic" pitchFamily="34" charset="0"/>
                <a:ea typeface="Yu Gothic" pitchFamily="34" charset="-128"/>
                <a:ea typeface="Yu Gothic" pitchFamily="34" charset="-122"/>
                <a:cs typeface="Yu Gothic" pitchFamily="34" charset="-120"/>
              </a:rPr>
              <a:t>医師にしか行えません。AIによる代替は法的に不可能です。扱えるのは常に診察の前後だけです。</a:t>
            </a:r>
            <a:endParaRPr lang="en-US" sz="1300" dirty="0"/>
          </a:p>
        </p:txBody>
      </p:sp>
      <p:sp>
        <p:nvSpPr>
          <p:cNvPr id="9" name="Shape 7"/>
          <p:cNvSpPr/>
          <p:nvPr/>
        </p:nvSpPr>
        <p:spPr>
          <a:xfrm>
            <a:off x="6437376" y="1847088"/>
            <a:ext cx="5440680" cy="1938528"/>
          </a:xfrm>
          <a:prstGeom prst="roundRect">
            <a:avLst>
              <a:gd name="adj" fmla="val 3774"/>
            </a:avLst>
          </a:prstGeom>
          <a:solidFill>
            <a:srgbClr val="FFFFFF"/>
          </a:solidFill>
          <a:ln w="12700">
            <a:solidFill>
              <a:srgbClr val="D2DFE8"/>
            </a:solidFill>
            <a:prstDash val="solid"/>
          </a:ln>
        </p:spPr>
      </p:sp>
      <p:sp>
        <p:nvSpPr>
          <p:cNvPr id="10" name="Text 8"/>
          <p:cNvSpPr txBox="1"/>
          <p:nvPr/>
        </p:nvSpPr>
        <p:spPr>
          <a:xfrm>
            <a:off x="6711696" y="2066544"/>
            <a:ext cx="4892040" cy="384048"/>
          </a:xfrm>
          <a:prstGeom prst="rect">
            <a:avLst/>
          </a:prstGeom>
          <a:noFill/>
          <a:ln/>
        </p:spPr>
        <p:txBody>
          <a:bodyPr wrap="square" lIns="0" tIns="0" rIns="0" bIns="0" rtlCol="0" anchor="ctr"/>
          <a:lstStyle/>
          <a:p>
            <a:pPr indent="0" marL="0">
              <a:lnSpc>
                <a:spcPts val="2200"/>
              </a:lnSpc>
              <a:buNone/>
            </a:pPr>
            <a:r>
              <a:rPr lang="en-US" sz="1650" b="1" dirty="0">
                <a:solidFill>
                  <a:srgbClr val="0E3B4E"/>
                </a:solidFill>
                <a:latin typeface="Yu Gothic" pitchFamily="34" charset="0"/>
                <a:ea typeface="Yu Gothic" pitchFamily="34" charset="-128"/>
                <a:ea typeface="Yu Gothic" pitchFamily="34" charset="-122"/>
                <a:cs typeface="Yu Gothic" pitchFamily="34" charset="-120"/>
              </a:rPr>
              <a:t>診断を示唆する機能</a:t>
            </a:r>
            <a:endParaRPr lang="en-US" sz="1650" dirty="0"/>
          </a:p>
        </p:txBody>
      </p:sp>
      <p:sp>
        <p:nvSpPr>
          <p:cNvPr id="11" name="Shape 9"/>
          <p:cNvSpPr/>
          <p:nvPr/>
        </p:nvSpPr>
        <p:spPr>
          <a:xfrm>
            <a:off x="6711696" y="2505456"/>
            <a:ext cx="2286000" cy="274320"/>
          </a:xfrm>
          <a:prstGeom prst="roundRect">
            <a:avLst>
              <a:gd name="adj" fmla="val 20000"/>
            </a:avLst>
          </a:prstGeom>
          <a:solidFill>
            <a:srgbClr val="E6ECF0"/>
          </a:solidFill>
          <a:ln w="12700">
            <a:solidFill>
              <a:srgbClr val="E6ECF0"/>
            </a:solidFill>
            <a:prstDash val="solid"/>
          </a:ln>
        </p:spPr>
      </p:sp>
      <p:sp>
        <p:nvSpPr>
          <p:cNvPr id="12" name="Text 10"/>
          <p:cNvSpPr txBox="1"/>
          <p:nvPr/>
        </p:nvSpPr>
        <p:spPr>
          <a:xfrm>
            <a:off x="6711696" y="2505456"/>
            <a:ext cx="2286000" cy="274320"/>
          </a:xfrm>
          <a:prstGeom prst="rect">
            <a:avLst/>
          </a:prstGeom>
          <a:noFill/>
          <a:ln/>
        </p:spPr>
        <p:txBody>
          <a:bodyPr wrap="square" lIns="0" tIns="0" rIns="0" bIns="0" rtlCol="0" anchor="ctr"/>
          <a:lstStyle/>
          <a:p>
            <a:pPr algn="ctr" indent="0" marL="0">
              <a:buNone/>
            </a:pPr>
            <a:r>
              <a:rPr lang="en-US" sz="1100" b="1" dirty="0">
                <a:solidFill>
                  <a:srgbClr val="506270"/>
                </a:solidFill>
                <a:latin typeface="Yu Gothic" pitchFamily="34" charset="0"/>
                <a:ea typeface="Yu Gothic" pitchFamily="34" charset="-128"/>
                <a:ea typeface="Yu Gothic" pitchFamily="34" charset="-122"/>
                <a:cs typeface="Yu Gothic" pitchFamily="34" charset="-120"/>
              </a:rPr>
              <a:t>プログラム医療機器規制</a:t>
            </a:r>
            <a:endParaRPr lang="en-US" sz="1100" dirty="0"/>
          </a:p>
        </p:txBody>
      </p:sp>
      <p:sp>
        <p:nvSpPr>
          <p:cNvPr id="13" name="Text 11"/>
          <p:cNvSpPr txBox="1"/>
          <p:nvPr/>
        </p:nvSpPr>
        <p:spPr>
          <a:xfrm>
            <a:off x="6711696" y="2907792"/>
            <a:ext cx="4892040" cy="786384"/>
          </a:xfrm>
          <a:prstGeom prst="rect">
            <a:avLst/>
          </a:prstGeom>
          <a:noFill/>
          <a:ln/>
        </p:spPr>
        <p:txBody>
          <a:bodyPr wrap="square" lIns="0" tIns="0" rIns="0" bIns="0" rtlCol="0" anchor="ctr"/>
          <a:lstStyle/>
          <a:p>
            <a:pPr indent="0" marL="0">
              <a:lnSpc>
                <a:spcPts val="2000"/>
              </a:lnSpc>
              <a:buNone/>
            </a:pPr>
            <a:r>
              <a:rPr lang="en-US" sz="1300" dirty="0">
                <a:solidFill>
                  <a:srgbClr val="1F2D37"/>
                </a:solidFill>
                <a:latin typeface="Yu Gothic" pitchFamily="34" charset="0"/>
                <a:ea typeface="Yu Gothic" pitchFamily="34" charset="-128"/>
                <a:ea typeface="Yu Gothic" pitchFamily="34" charset="-122"/>
                <a:cs typeface="Yu Gothic" pitchFamily="34" charset="-120"/>
              </a:rPr>
              <a:t>診断支援に踏み込むとプログラム医療機器(SaMD)の規制対象になります。そうした機能は作りませんし、お勧めもしません。</a:t>
            </a:r>
            <a:endParaRPr lang="en-US" sz="1300" dirty="0"/>
          </a:p>
        </p:txBody>
      </p:sp>
      <p:sp>
        <p:nvSpPr>
          <p:cNvPr id="14" name="Shape 12"/>
          <p:cNvSpPr/>
          <p:nvPr/>
        </p:nvSpPr>
        <p:spPr>
          <a:xfrm>
            <a:off x="640080" y="4096512"/>
            <a:ext cx="5440680" cy="1938528"/>
          </a:xfrm>
          <a:prstGeom prst="roundRect">
            <a:avLst>
              <a:gd name="adj" fmla="val 3774"/>
            </a:avLst>
          </a:prstGeom>
          <a:solidFill>
            <a:srgbClr val="FFFFFF"/>
          </a:solidFill>
          <a:ln w="12700">
            <a:solidFill>
              <a:srgbClr val="D2DFE8"/>
            </a:solidFill>
            <a:prstDash val="solid"/>
          </a:ln>
        </p:spPr>
      </p:sp>
      <p:sp>
        <p:nvSpPr>
          <p:cNvPr id="15" name="Text 13"/>
          <p:cNvSpPr txBox="1"/>
          <p:nvPr/>
        </p:nvSpPr>
        <p:spPr>
          <a:xfrm>
            <a:off x="914400" y="4315968"/>
            <a:ext cx="4892040" cy="384048"/>
          </a:xfrm>
          <a:prstGeom prst="rect">
            <a:avLst/>
          </a:prstGeom>
          <a:noFill/>
          <a:ln/>
        </p:spPr>
        <p:txBody>
          <a:bodyPr wrap="square" lIns="0" tIns="0" rIns="0" bIns="0" rtlCol="0" anchor="ctr"/>
          <a:lstStyle/>
          <a:p>
            <a:pPr indent="0" marL="0">
              <a:lnSpc>
                <a:spcPts val="2200"/>
              </a:lnSpc>
              <a:buNone/>
            </a:pPr>
            <a:r>
              <a:rPr lang="en-US" sz="1650" b="1" dirty="0">
                <a:solidFill>
                  <a:srgbClr val="0E3B4E"/>
                </a:solidFill>
                <a:latin typeface="Yu Gothic" pitchFamily="34" charset="0"/>
                <a:ea typeface="Yu Gothic" pitchFamily="34" charset="-128"/>
                <a:ea typeface="Yu Gothic" pitchFamily="34" charset="-122"/>
                <a:cs typeface="Yu Gothic" pitchFamily="34" charset="-120"/>
              </a:rPr>
              <a:t>患者情報を一般向けAIにそのまま入れること</a:t>
            </a:r>
            <a:endParaRPr lang="en-US" sz="1650" dirty="0"/>
          </a:p>
        </p:txBody>
      </p:sp>
      <p:sp>
        <p:nvSpPr>
          <p:cNvPr id="16" name="Shape 14"/>
          <p:cNvSpPr/>
          <p:nvPr/>
        </p:nvSpPr>
        <p:spPr>
          <a:xfrm>
            <a:off x="914400" y="4754880"/>
            <a:ext cx="2286000" cy="274320"/>
          </a:xfrm>
          <a:prstGeom prst="roundRect">
            <a:avLst>
              <a:gd name="adj" fmla="val 20000"/>
            </a:avLst>
          </a:prstGeom>
          <a:solidFill>
            <a:srgbClr val="E6ECF0"/>
          </a:solidFill>
          <a:ln w="12700">
            <a:solidFill>
              <a:srgbClr val="E6ECF0"/>
            </a:solidFill>
            <a:prstDash val="solid"/>
          </a:ln>
        </p:spPr>
      </p:sp>
      <p:sp>
        <p:nvSpPr>
          <p:cNvPr id="17" name="Text 15"/>
          <p:cNvSpPr txBox="1"/>
          <p:nvPr/>
        </p:nvSpPr>
        <p:spPr>
          <a:xfrm>
            <a:off x="914400" y="4754880"/>
            <a:ext cx="2286000" cy="274320"/>
          </a:xfrm>
          <a:prstGeom prst="rect">
            <a:avLst/>
          </a:prstGeom>
          <a:noFill/>
          <a:ln/>
        </p:spPr>
        <p:txBody>
          <a:bodyPr wrap="square" lIns="0" tIns="0" rIns="0" bIns="0" rtlCol="0" anchor="ctr"/>
          <a:lstStyle/>
          <a:p>
            <a:pPr algn="ctr" indent="0" marL="0">
              <a:buNone/>
            </a:pPr>
            <a:r>
              <a:rPr lang="en-US" sz="1100" b="1" dirty="0">
                <a:solidFill>
                  <a:srgbClr val="506270"/>
                </a:solidFill>
                <a:latin typeface="Yu Gothic" pitchFamily="34" charset="0"/>
                <a:ea typeface="Yu Gothic" pitchFamily="34" charset="-128"/>
                <a:ea typeface="Yu Gothic" pitchFamily="34" charset="-122"/>
                <a:cs typeface="Yu Gothic" pitchFamily="34" charset="-120"/>
              </a:rPr>
              <a:t>3省2ガイドライン</a:t>
            </a:r>
            <a:endParaRPr lang="en-US" sz="1100" dirty="0"/>
          </a:p>
        </p:txBody>
      </p:sp>
      <p:sp>
        <p:nvSpPr>
          <p:cNvPr id="18" name="Text 16"/>
          <p:cNvSpPr txBox="1"/>
          <p:nvPr/>
        </p:nvSpPr>
        <p:spPr>
          <a:xfrm>
            <a:off x="914400" y="5157216"/>
            <a:ext cx="4892040" cy="786384"/>
          </a:xfrm>
          <a:prstGeom prst="rect">
            <a:avLst/>
          </a:prstGeom>
          <a:noFill/>
          <a:ln/>
        </p:spPr>
        <p:txBody>
          <a:bodyPr wrap="square" lIns="0" tIns="0" rIns="0" bIns="0" rtlCol="0" anchor="ctr"/>
          <a:lstStyle/>
          <a:p>
            <a:pPr indent="0" marL="0">
              <a:lnSpc>
                <a:spcPts val="2000"/>
              </a:lnSpc>
              <a:buNone/>
            </a:pPr>
            <a:r>
              <a:rPr lang="en-US" sz="1300" dirty="0">
                <a:solidFill>
                  <a:srgbClr val="1F2D37"/>
                </a:solidFill>
                <a:latin typeface="Yu Gothic" pitchFamily="34" charset="0"/>
                <a:ea typeface="Yu Gothic" pitchFamily="34" charset="-128"/>
                <a:ea typeface="Yu Gothic" pitchFamily="34" charset="-122"/>
                <a:cs typeface="Yu Gothic" pitchFamily="34" charset="-120"/>
              </a:rPr>
              <a:t>入力内容が学習に使われない契約形態を選び、必要に応じて匿名化したうえで運用設計を行います。運用ルールは導入前に書面でお渡しします。</a:t>
            </a:r>
            <a:endParaRPr lang="en-US" sz="1300" dirty="0"/>
          </a:p>
        </p:txBody>
      </p:sp>
      <p:sp>
        <p:nvSpPr>
          <p:cNvPr id="19" name="Shape 17"/>
          <p:cNvSpPr/>
          <p:nvPr/>
        </p:nvSpPr>
        <p:spPr>
          <a:xfrm>
            <a:off x="6437376" y="4096512"/>
            <a:ext cx="5440680" cy="1938528"/>
          </a:xfrm>
          <a:prstGeom prst="roundRect">
            <a:avLst>
              <a:gd name="adj" fmla="val 3774"/>
            </a:avLst>
          </a:prstGeom>
          <a:solidFill>
            <a:srgbClr val="FFFFFF"/>
          </a:solidFill>
          <a:ln w="12700">
            <a:solidFill>
              <a:srgbClr val="D2DFE8"/>
            </a:solidFill>
            <a:prstDash val="solid"/>
          </a:ln>
        </p:spPr>
      </p:sp>
      <p:sp>
        <p:nvSpPr>
          <p:cNvPr id="20" name="Text 18"/>
          <p:cNvSpPr txBox="1"/>
          <p:nvPr/>
        </p:nvSpPr>
        <p:spPr>
          <a:xfrm>
            <a:off x="6711696" y="4315968"/>
            <a:ext cx="4892040" cy="384048"/>
          </a:xfrm>
          <a:prstGeom prst="rect">
            <a:avLst/>
          </a:prstGeom>
          <a:noFill/>
          <a:ln/>
        </p:spPr>
        <p:txBody>
          <a:bodyPr wrap="square" lIns="0" tIns="0" rIns="0" bIns="0" rtlCol="0" anchor="ctr"/>
          <a:lstStyle/>
          <a:p>
            <a:pPr indent="0" marL="0">
              <a:lnSpc>
                <a:spcPts val="2200"/>
              </a:lnSpc>
              <a:buNone/>
            </a:pPr>
            <a:r>
              <a:rPr lang="en-US" sz="1650" b="1" dirty="0">
                <a:solidFill>
                  <a:srgbClr val="0E3B4E"/>
                </a:solidFill>
                <a:latin typeface="Yu Gothic" pitchFamily="34" charset="0"/>
                <a:ea typeface="Yu Gothic" pitchFamily="34" charset="-128"/>
                <a:ea typeface="Yu Gothic" pitchFamily="34" charset="-122"/>
                <a:cs typeface="Yu Gothic" pitchFamily="34" charset="-120"/>
              </a:rPr>
              <a:t>最終責任</a:t>
            </a:r>
            <a:endParaRPr lang="en-US" sz="1650" dirty="0"/>
          </a:p>
        </p:txBody>
      </p:sp>
      <p:sp>
        <p:nvSpPr>
          <p:cNvPr id="21" name="Text 19"/>
          <p:cNvSpPr txBox="1"/>
          <p:nvPr/>
        </p:nvSpPr>
        <p:spPr>
          <a:xfrm>
            <a:off x="6711696" y="4809744"/>
            <a:ext cx="4892040" cy="1005840"/>
          </a:xfrm>
          <a:prstGeom prst="rect">
            <a:avLst/>
          </a:prstGeom>
          <a:noFill/>
          <a:ln/>
        </p:spPr>
        <p:txBody>
          <a:bodyPr wrap="square" lIns="0" tIns="0" rIns="0" bIns="0" rtlCol="0" anchor="ctr"/>
          <a:lstStyle/>
          <a:p>
            <a:pPr indent="0" marL="0">
              <a:lnSpc>
                <a:spcPts val="2000"/>
              </a:lnSpc>
              <a:buNone/>
            </a:pPr>
            <a:r>
              <a:rPr lang="en-US" sz="1300" dirty="0">
                <a:solidFill>
                  <a:srgbClr val="1F2D37"/>
                </a:solidFill>
                <a:latin typeface="Yu Gothic" pitchFamily="34" charset="0"/>
                <a:ea typeface="Yu Gothic" pitchFamily="34" charset="-128"/>
                <a:ea typeface="Yu Gothic" pitchFamily="34" charset="-122"/>
                <a:cs typeface="Yu Gothic" pitchFamily="34" charset="-120"/>
              </a:rPr>
              <a:t>どの工程でも責任は先生にあります。AIの出力はすべて下書きであり、確認を省く運用は組みません。</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2900" b="1" dirty="0">
                <a:solidFill>
                  <a:srgbClr val="0E3B4E"/>
                </a:solidFill>
                <a:latin typeface="Yu Gothic" pitchFamily="34" charset="0"/>
                <a:ea typeface="Yu Gothic" pitchFamily="34" charset="-128"/>
                <a:ea typeface="Yu Gothic" pitchFamily="34" charset="-122"/>
                <a:cs typeface="Yu Gothic" pitchFamily="34" charset="-120"/>
              </a:rPr>
              <a:t>始めるなら、この順番で</a:t>
            </a:r>
            <a:endParaRPr lang="en-US" sz="2900" dirty="0"/>
          </a:p>
        </p:txBody>
      </p:sp>
      <p:sp>
        <p:nvSpPr>
          <p:cNvPr id="3" name="Text 1"/>
          <p:cNvSpPr txBox="1"/>
          <p:nvPr/>
        </p:nvSpPr>
        <p:spPr>
          <a:xfrm>
            <a:off x="640080" y="1042416"/>
            <a:ext cx="10911535" cy="347472"/>
          </a:xfrm>
          <a:prstGeom prst="rect">
            <a:avLst/>
          </a:prstGeom>
          <a:noFill/>
          <a:ln/>
        </p:spPr>
        <p:txBody>
          <a:bodyPr wrap="square" lIns="0" tIns="0" rIns="0" bIns="0" rtlCol="0" anchor="t"/>
          <a:lstStyle/>
          <a:p>
            <a:pPr indent="0" marL="0">
              <a:buNone/>
            </a:pPr>
            <a:r>
              <a:rPr lang="en-US" sz="1300" dirty="0">
                <a:solidFill>
                  <a:srgbClr val="5A6C79"/>
                </a:solidFill>
                <a:latin typeface="Yu Gothic" pitchFamily="34" charset="0"/>
                <a:ea typeface="Yu Gothic" pitchFamily="34" charset="-128"/>
                <a:ea typeface="Yu Gothic" pitchFamily="34" charset="-122"/>
                <a:cs typeface="Yu Gothic" pitchFamily="34" charset="-120"/>
              </a:rPr>
              <a:t>効果の大きさではなく、確かめやすさの順です。いちばん効くのは書類ですが、院ごとの作り込みが要るので4番目に置いています。</a:t>
            </a:r>
            <a:endParaRPr lang="en-US" sz="1300" dirty="0"/>
          </a:p>
        </p:txBody>
      </p:sp>
      <p:sp>
        <p:nvSpPr>
          <p:cNvPr id="4" name="Shape 2"/>
          <p:cNvSpPr/>
          <p:nvPr/>
        </p:nvSpPr>
        <p:spPr>
          <a:xfrm>
            <a:off x="640080" y="1947672"/>
            <a:ext cx="457200" cy="457200"/>
          </a:xfrm>
          <a:prstGeom prst="ellipse">
            <a:avLst/>
          </a:prstGeom>
          <a:solidFill>
            <a:srgbClr val="1F8F68"/>
          </a:solidFill>
          <a:ln w="12700">
            <a:solidFill>
              <a:srgbClr val="1F8F68"/>
            </a:solidFill>
            <a:prstDash val="solid"/>
          </a:ln>
        </p:spPr>
      </p:sp>
      <p:sp>
        <p:nvSpPr>
          <p:cNvPr id="5" name="Text 3"/>
          <p:cNvSpPr txBox="1"/>
          <p:nvPr/>
        </p:nvSpPr>
        <p:spPr>
          <a:xfrm>
            <a:off x="640080" y="19476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1</a:t>
            </a:r>
            <a:endParaRPr lang="en-US" sz="1600" dirty="0"/>
          </a:p>
        </p:txBody>
      </p:sp>
      <p:sp>
        <p:nvSpPr>
          <p:cNvPr id="6" name="Text 4"/>
          <p:cNvSpPr txBox="1"/>
          <p:nvPr/>
        </p:nvSpPr>
        <p:spPr>
          <a:xfrm>
            <a:off x="1353312" y="1874520"/>
            <a:ext cx="3931920" cy="347472"/>
          </a:xfrm>
          <a:prstGeom prst="rect">
            <a:avLst/>
          </a:prstGeom>
          <a:noFill/>
          <a:ln/>
        </p:spPr>
        <p:txBody>
          <a:bodyPr wrap="square" lIns="0" tIns="0" rIns="0" bIns="0" rtlCol="0" anchor="ctr"/>
          <a:lstStyle/>
          <a:p>
            <a:pPr indent="0" marL="0">
              <a:buNone/>
            </a:pPr>
            <a:r>
              <a:rPr lang="en-US" sz="1700" b="1" dirty="0">
                <a:solidFill>
                  <a:srgbClr val="0E3B4E"/>
                </a:solidFill>
                <a:latin typeface="Yu Gothic" pitchFamily="34" charset="0"/>
                <a:ea typeface="Yu Gothic" pitchFamily="34" charset="-128"/>
                <a:ea typeface="Yu Gothic" pitchFamily="34" charset="-122"/>
                <a:cs typeface="Yu Gothic" pitchFamily="34" charset="-120"/>
              </a:rPr>
              <a:t>患者情報を含まない文章仕事</a:t>
            </a:r>
            <a:endParaRPr lang="en-US" sz="1700" dirty="0"/>
          </a:p>
        </p:txBody>
      </p:sp>
      <p:sp>
        <p:nvSpPr>
          <p:cNvPr id="7" name="Text 5"/>
          <p:cNvSpPr txBox="1"/>
          <p:nvPr/>
        </p:nvSpPr>
        <p:spPr>
          <a:xfrm>
            <a:off x="5349240" y="1874520"/>
            <a:ext cx="6400800" cy="566928"/>
          </a:xfrm>
          <a:prstGeom prst="rect">
            <a:avLst/>
          </a:prstGeom>
          <a:noFill/>
          <a:ln/>
        </p:spPr>
        <p:txBody>
          <a:bodyPr wrap="square" lIns="0" tIns="0" rIns="0" bIns="0" rtlCol="0" anchor="ctr"/>
          <a:lstStyle/>
          <a:p>
            <a:pPr indent="0" marL="0">
              <a:lnSpc>
                <a:spcPts val="20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掲示物、説明資料、求人票。契約も設定も不要で、今日から試せます。</a:t>
            </a:r>
            <a:endParaRPr lang="en-US" sz="1350" dirty="0"/>
          </a:p>
        </p:txBody>
      </p:sp>
      <p:sp>
        <p:nvSpPr>
          <p:cNvPr id="8" name="Shape 6"/>
          <p:cNvSpPr/>
          <p:nvPr/>
        </p:nvSpPr>
        <p:spPr>
          <a:xfrm>
            <a:off x="640080" y="2551176"/>
            <a:ext cx="10911535" cy="0"/>
          </a:xfrm>
          <a:prstGeom prst="line">
            <a:avLst/>
          </a:prstGeom>
          <a:noFill/>
          <a:ln w="12700">
            <a:solidFill>
              <a:srgbClr val="D2DFE8"/>
            </a:solidFill>
            <a:prstDash val="solid"/>
          </a:ln>
        </p:spPr>
      </p:sp>
      <p:sp>
        <p:nvSpPr>
          <p:cNvPr id="9" name="Shape 7"/>
          <p:cNvSpPr/>
          <p:nvPr/>
        </p:nvSpPr>
        <p:spPr>
          <a:xfrm>
            <a:off x="640080" y="2752344"/>
            <a:ext cx="457200" cy="457200"/>
          </a:xfrm>
          <a:prstGeom prst="ellipse">
            <a:avLst/>
          </a:prstGeom>
          <a:solidFill>
            <a:srgbClr val="1F8F68"/>
          </a:solidFill>
          <a:ln w="12700">
            <a:solidFill>
              <a:srgbClr val="1F8F68"/>
            </a:solidFill>
            <a:prstDash val="solid"/>
          </a:ln>
        </p:spPr>
      </p:sp>
      <p:sp>
        <p:nvSpPr>
          <p:cNvPr id="10" name="Text 8"/>
          <p:cNvSpPr txBox="1"/>
          <p:nvPr/>
        </p:nvSpPr>
        <p:spPr>
          <a:xfrm>
            <a:off x="640080" y="27523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2</a:t>
            </a:r>
            <a:endParaRPr lang="en-US" sz="1600" dirty="0"/>
          </a:p>
        </p:txBody>
      </p:sp>
      <p:sp>
        <p:nvSpPr>
          <p:cNvPr id="11" name="Text 9"/>
          <p:cNvSpPr txBox="1"/>
          <p:nvPr/>
        </p:nvSpPr>
        <p:spPr>
          <a:xfrm>
            <a:off x="1353312" y="2679192"/>
            <a:ext cx="3931920" cy="347472"/>
          </a:xfrm>
          <a:prstGeom prst="rect">
            <a:avLst/>
          </a:prstGeom>
          <a:noFill/>
          <a:ln/>
        </p:spPr>
        <p:txBody>
          <a:bodyPr wrap="square" lIns="0" tIns="0" rIns="0" bIns="0" rtlCol="0" anchor="ctr"/>
          <a:lstStyle/>
          <a:p>
            <a:pPr indent="0" marL="0">
              <a:buNone/>
            </a:pPr>
            <a:r>
              <a:rPr lang="en-US" sz="1700" b="1" dirty="0">
                <a:solidFill>
                  <a:srgbClr val="0E3B4E"/>
                </a:solidFill>
                <a:latin typeface="Yu Gothic" pitchFamily="34" charset="0"/>
                <a:ea typeface="Yu Gothic" pitchFamily="34" charset="-128"/>
                <a:ea typeface="Yu Gothic" pitchFamily="34" charset="-122"/>
                <a:cs typeface="Yu Gothic" pitchFamily="34" charset="-120"/>
              </a:rPr>
              <a:t>電話の一次対応</a:t>
            </a:r>
            <a:endParaRPr lang="en-US" sz="1700" dirty="0"/>
          </a:p>
        </p:txBody>
      </p:sp>
      <p:sp>
        <p:nvSpPr>
          <p:cNvPr id="12" name="Text 10"/>
          <p:cNvSpPr txBox="1"/>
          <p:nvPr/>
        </p:nvSpPr>
        <p:spPr>
          <a:xfrm>
            <a:off x="5349240" y="2679192"/>
            <a:ext cx="6400800" cy="566928"/>
          </a:xfrm>
          <a:prstGeom prst="rect">
            <a:avLst/>
          </a:prstGeom>
          <a:noFill/>
          <a:ln/>
        </p:spPr>
        <p:txBody>
          <a:bodyPr wrap="square" lIns="0" tIns="0" rIns="0" bIns="0" rtlCol="0" anchor="ctr"/>
          <a:lstStyle/>
          <a:p>
            <a:pPr indent="0" marL="0">
              <a:lnSpc>
                <a:spcPts val="20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工事不要、転送設定のみ。効果がいちばん早く目に見えます。</a:t>
            </a:r>
            <a:endParaRPr lang="en-US" sz="1350" dirty="0"/>
          </a:p>
        </p:txBody>
      </p:sp>
      <p:sp>
        <p:nvSpPr>
          <p:cNvPr id="13" name="Shape 11"/>
          <p:cNvSpPr/>
          <p:nvPr/>
        </p:nvSpPr>
        <p:spPr>
          <a:xfrm>
            <a:off x="640080" y="3355848"/>
            <a:ext cx="10911535" cy="0"/>
          </a:xfrm>
          <a:prstGeom prst="line">
            <a:avLst/>
          </a:prstGeom>
          <a:noFill/>
          <a:ln w="12700">
            <a:solidFill>
              <a:srgbClr val="D2DFE8"/>
            </a:solidFill>
            <a:prstDash val="solid"/>
          </a:ln>
        </p:spPr>
      </p:sp>
      <p:sp>
        <p:nvSpPr>
          <p:cNvPr id="14" name="Shape 12"/>
          <p:cNvSpPr/>
          <p:nvPr/>
        </p:nvSpPr>
        <p:spPr>
          <a:xfrm>
            <a:off x="640080" y="3557016"/>
            <a:ext cx="457200" cy="457200"/>
          </a:xfrm>
          <a:prstGeom prst="ellipse">
            <a:avLst/>
          </a:prstGeom>
          <a:solidFill>
            <a:srgbClr val="1F8F68"/>
          </a:solidFill>
          <a:ln w="12700">
            <a:solidFill>
              <a:srgbClr val="1F8F68"/>
            </a:solidFill>
            <a:prstDash val="solid"/>
          </a:ln>
        </p:spPr>
      </p:sp>
      <p:sp>
        <p:nvSpPr>
          <p:cNvPr id="15" name="Text 13"/>
          <p:cNvSpPr txBox="1"/>
          <p:nvPr/>
        </p:nvSpPr>
        <p:spPr>
          <a:xfrm>
            <a:off x="640080" y="3557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3</a:t>
            </a:r>
            <a:endParaRPr lang="en-US" sz="1600" dirty="0"/>
          </a:p>
        </p:txBody>
      </p:sp>
      <p:sp>
        <p:nvSpPr>
          <p:cNvPr id="16" name="Text 14"/>
          <p:cNvSpPr txBox="1"/>
          <p:nvPr/>
        </p:nvSpPr>
        <p:spPr>
          <a:xfrm>
            <a:off x="1353312" y="3483864"/>
            <a:ext cx="3931920" cy="347472"/>
          </a:xfrm>
          <a:prstGeom prst="rect">
            <a:avLst/>
          </a:prstGeom>
          <a:noFill/>
          <a:ln/>
        </p:spPr>
        <p:txBody>
          <a:bodyPr wrap="square" lIns="0" tIns="0" rIns="0" bIns="0" rtlCol="0" anchor="ctr"/>
          <a:lstStyle/>
          <a:p>
            <a:pPr indent="0" marL="0">
              <a:buNone/>
            </a:pPr>
            <a:r>
              <a:rPr lang="en-US" sz="1700" b="1" dirty="0">
                <a:solidFill>
                  <a:srgbClr val="0E3B4E"/>
                </a:solidFill>
                <a:latin typeface="Yu Gothic" pitchFamily="34" charset="0"/>
                <a:ea typeface="Yu Gothic" pitchFamily="34" charset="-128"/>
                <a:ea typeface="Yu Gothic" pitchFamily="34" charset="-122"/>
                <a:cs typeface="Yu Gothic" pitchFamily="34" charset="-120"/>
              </a:rPr>
              <a:t>Web問診</a:t>
            </a:r>
            <a:endParaRPr lang="en-US" sz="1700" dirty="0"/>
          </a:p>
        </p:txBody>
      </p:sp>
      <p:sp>
        <p:nvSpPr>
          <p:cNvPr id="17" name="Text 15"/>
          <p:cNvSpPr txBox="1"/>
          <p:nvPr/>
        </p:nvSpPr>
        <p:spPr>
          <a:xfrm>
            <a:off x="5349240" y="3483864"/>
            <a:ext cx="6400800" cy="566928"/>
          </a:xfrm>
          <a:prstGeom prst="rect">
            <a:avLst/>
          </a:prstGeom>
          <a:noFill/>
          <a:ln/>
        </p:spPr>
        <p:txBody>
          <a:bodyPr wrap="square" lIns="0" tIns="0" rIns="0" bIns="0" rtlCol="0" anchor="ctr"/>
          <a:lstStyle/>
          <a:p>
            <a:pPr indent="0" marL="0">
              <a:lnSpc>
                <a:spcPts val="20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転記作業が消え、受付の負担がはっきり軽くなります。</a:t>
            </a:r>
            <a:endParaRPr lang="en-US" sz="1350" dirty="0"/>
          </a:p>
        </p:txBody>
      </p:sp>
      <p:sp>
        <p:nvSpPr>
          <p:cNvPr id="18" name="Shape 16"/>
          <p:cNvSpPr/>
          <p:nvPr/>
        </p:nvSpPr>
        <p:spPr>
          <a:xfrm>
            <a:off x="640080" y="4160520"/>
            <a:ext cx="10911535" cy="0"/>
          </a:xfrm>
          <a:prstGeom prst="line">
            <a:avLst/>
          </a:prstGeom>
          <a:noFill/>
          <a:ln w="12700">
            <a:solidFill>
              <a:srgbClr val="D2DFE8"/>
            </a:solidFill>
            <a:prstDash val="solid"/>
          </a:ln>
        </p:spPr>
      </p:sp>
      <p:sp>
        <p:nvSpPr>
          <p:cNvPr id="19" name="Shape 17"/>
          <p:cNvSpPr/>
          <p:nvPr/>
        </p:nvSpPr>
        <p:spPr>
          <a:xfrm>
            <a:off x="640080" y="4361688"/>
            <a:ext cx="457200" cy="457200"/>
          </a:xfrm>
          <a:prstGeom prst="ellipse">
            <a:avLst/>
          </a:prstGeom>
          <a:solidFill>
            <a:srgbClr val="15607F"/>
          </a:solidFill>
          <a:ln w="12700">
            <a:solidFill>
              <a:srgbClr val="15607F"/>
            </a:solidFill>
            <a:prstDash val="solid"/>
          </a:ln>
        </p:spPr>
      </p:sp>
      <p:sp>
        <p:nvSpPr>
          <p:cNvPr id="20" name="Text 18"/>
          <p:cNvSpPr txBox="1"/>
          <p:nvPr/>
        </p:nvSpPr>
        <p:spPr>
          <a:xfrm>
            <a:off x="640080" y="43616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4</a:t>
            </a:r>
            <a:endParaRPr lang="en-US" sz="1600" dirty="0"/>
          </a:p>
        </p:txBody>
      </p:sp>
      <p:sp>
        <p:nvSpPr>
          <p:cNvPr id="21" name="Text 19"/>
          <p:cNvSpPr txBox="1"/>
          <p:nvPr/>
        </p:nvSpPr>
        <p:spPr>
          <a:xfrm>
            <a:off x="1353312" y="4288536"/>
            <a:ext cx="3931920" cy="347472"/>
          </a:xfrm>
          <a:prstGeom prst="rect">
            <a:avLst/>
          </a:prstGeom>
          <a:noFill/>
          <a:ln/>
        </p:spPr>
        <p:txBody>
          <a:bodyPr wrap="square" lIns="0" tIns="0" rIns="0" bIns="0" rtlCol="0" anchor="ctr"/>
          <a:lstStyle/>
          <a:p>
            <a:pPr indent="0" marL="0">
              <a:buNone/>
            </a:pPr>
            <a:r>
              <a:rPr lang="en-US" sz="1700" b="1" dirty="0">
                <a:solidFill>
                  <a:srgbClr val="0E3B4E"/>
                </a:solidFill>
                <a:latin typeface="Yu Gothic" pitchFamily="34" charset="0"/>
                <a:ea typeface="Yu Gothic" pitchFamily="34" charset="-128"/>
                <a:ea typeface="Yu Gothic" pitchFamily="34" charset="-122"/>
                <a:cs typeface="Yu Gothic" pitchFamily="34" charset="-120"/>
              </a:rPr>
              <a:t>書類の下書き</a:t>
            </a:r>
            <a:endParaRPr lang="en-US" sz="1700" dirty="0"/>
          </a:p>
        </p:txBody>
      </p:sp>
      <p:sp>
        <p:nvSpPr>
          <p:cNvPr id="22" name="Text 20"/>
          <p:cNvSpPr txBox="1"/>
          <p:nvPr/>
        </p:nvSpPr>
        <p:spPr>
          <a:xfrm>
            <a:off x="5349240" y="4288536"/>
            <a:ext cx="6400800" cy="566928"/>
          </a:xfrm>
          <a:prstGeom prst="rect">
            <a:avLst/>
          </a:prstGeom>
          <a:noFill/>
          <a:ln/>
        </p:spPr>
        <p:txBody>
          <a:bodyPr wrap="square" lIns="0" tIns="0" rIns="0" bIns="0" rtlCol="0" anchor="ctr"/>
          <a:lstStyle/>
          <a:p>
            <a:pPr indent="0" marL="0">
              <a:lnSpc>
                <a:spcPts val="20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効果は最大。貴院のカルテと書式に合わせたテンプレートを一緒に作ります。</a:t>
            </a:r>
            <a:endParaRPr lang="en-US" sz="1350" dirty="0"/>
          </a:p>
        </p:txBody>
      </p:sp>
      <p:sp>
        <p:nvSpPr>
          <p:cNvPr id="23" name="Shape 21"/>
          <p:cNvSpPr/>
          <p:nvPr/>
        </p:nvSpPr>
        <p:spPr>
          <a:xfrm>
            <a:off x="640080" y="4965192"/>
            <a:ext cx="10911535" cy="0"/>
          </a:xfrm>
          <a:prstGeom prst="line">
            <a:avLst/>
          </a:prstGeom>
          <a:noFill/>
          <a:ln w="12700">
            <a:solidFill>
              <a:srgbClr val="D2DFE8"/>
            </a:solidFill>
            <a:prstDash val="solid"/>
          </a:ln>
        </p:spPr>
      </p:sp>
      <p:sp>
        <p:nvSpPr>
          <p:cNvPr id="24" name="Shape 22"/>
          <p:cNvSpPr/>
          <p:nvPr/>
        </p:nvSpPr>
        <p:spPr>
          <a:xfrm>
            <a:off x="640080" y="5166360"/>
            <a:ext cx="457200" cy="457200"/>
          </a:xfrm>
          <a:prstGeom prst="ellipse">
            <a:avLst/>
          </a:prstGeom>
          <a:solidFill>
            <a:srgbClr val="8F6114"/>
          </a:solidFill>
          <a:ln w="12700">
            <a:solidFill>
              <a:srgbClr val="8F6114"/>
            </a:solidFill>
            <a:prstDash val="solid"/>
          </a:ln>
        </p:spPr>
      </p:sp>
      <p:sp>
        <p:nvSpPr>
          <p:cNvPr id="25" name="Text 23"/>
          <p:cNvSpPr txBox="1"/>
          <p:nvPr/>
        </p:nvSpPr>
        <p:spPr>
          <a:xfrm>
            <a:off x="640080" y="5166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8"/>
                <a:ea typeface="Yu Gothic" pitchFamily="34" charset="-122"/>
                <a:cs typeface="Yu Gothic" pitchFamily="34" charset="-120"/>
              </a:rPr>
              <a:t>5</a:t>
            </a:r>
            <a:endParaRPr lang="en-US" sz="1600" dirty="0"/>
          </a:p>
        </p:txBody>
      </p:sp>
      <p:sp>
        <p:nvSpPr>
          <p:cNvPr id="26" name="Text 24"/>
          <p:cNvSpPr txBox="1"/>
          <p:nvPr/>
        </p:nvSpPr>
        <p:spPr>
          <a:xfrm>
            <a:off x="1353312" y="5093208"/>
            <a:ext cx="3931920" cy="347472"/>
          </a:xfrm>
          <a:prstGeom prst="rect">
            <a:avLst/>
          </a:prstGeom>
          <a:noFill/>
          <a:ln/>
        </p:spPr>
        <p:txBody>
          <a:bodyPr wrap="square" lIns="0" tIns="0" rIns="0" bIns="0" rtlCol="0" anchor="ctr"/>
          <a:lstStyle/>
          <a:p>
            <a:pPr indent="0" marL="0">
              <a:buNone/>
            </a:pPr>
            <a:r>
              <a:rPr lang="en-US" sz="1700" b="1" dirty="0">
                <a:solidFill>
                  <a:srgbClr val="0E3B4E"/>
                </a:solidFill>
                <a:latin typeface="Yu Gothic" pitchFamily="34" charset="0"/>
                <a:ea typeface="Yu Gothic" pitchFamily="34" charset="-128"/>
                <a:ea typeface="Yu Gothic" pitchFamily="34" charset="-122"/>
                <a:cs typeface="Yu Gothic" pitchFamily="34" charset="-120"/>
              </a:rPr>
              <a:t>カルテ記録の自動化</a:t>
            </a:r>
            <a:endParaRPr lang="en-US" sz="1700" dirty="0"/>
          </a:p>
        </p:txBody>
      </p:sp>
      <p:sp>
        <p:nvSpPr>
          <p:cNvPr id="27" name="Text 25"/>
          <p:cNvSpPr txBox="1"/>
          <p:nvPr/>
        </p:nvSpPr>
        <p:spPr>
          <a:xfrm>
            <a:off x="5349240" y="5093208"/>
            <a:ext cx="6400800" cy="566928"/>
          </a:xfrm>
          <a:prstGeom prst="rect">
            <a:avLst/>
          </a:prstGeom>
          <a:noFill/>
          <a:ln/>
        </p:spPr>
        <p:txBody>
          <a:bodyPr wrap="square" lIns="0" tIns="0" rIns="0" bIns="0" rtlCol="0" anchor="ctr"/>
          <a:lstStyle/>
          <a:p>
            <a:pPr indent="0" marL="0">
              <a:lnSpc>
                <a:spcPts val="2000"/>
              </a:lnSpc>
              <a:buNone/>
            </a:pPr>
            <a:r>
              <a:rPr lang="en-US" sz="1350" dirty="0">
                <a:solidFill>
                  <a:srgbClr val="1F2D37"/>
                </a:solidFill>
                <a:latin typeface="Yu Gothic" pitchFamily="34" charset="0"/>
                <a:ea typeface="Yu Gothic" pitchFamily="34" charset="-128"/>
                <a:ea typeface="Yu Gothic" pitchFamily="34" charset="-122"/>
                <a:cs typeface="Yu Gothic" pitchFamily="34" charset="-120"/>
              </a:rPr>
              <a:t>期待値を揃えてから。前の4つが回ってからで遅くありません。</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3B4E"/>
        </a:solidFill>
      </p:bgPr>
    </p:bg>
    <p:spTree>
      <p:nvGrpSpPr>
        <p:cNvPr id="1" name=""/>
        <p:cNvGrpSpPr/>
        <p:nvPr/>
      </p:nvGrpSpPr>
      <p:grpSpPr>
        <a:xfrm>
          <a:off x="0" y="0"/>
          <a:ext cx="0" cy="0"/>
          <a:chOff x="0" y="0"/>
          <a:chExt cx="0" cy="0"/>
        </a:xfrm>
      </p:grpSpPr>
      <p:sp>
        <p:nvSpPr>
          <p:cNvPr id="2" name="Text 0"/>
          <p:cNvSpPr txBox="1"/>
          <p:nvPr/>
        </p:nvSpPr>
        <p:spPr>
          <a:xfrm>
            <a:off x="640080" y="914400"/>
            <a:ext cx="6583680" cy="1463040"/>
          </a:xfrm>
          <a:prstGeom prst="rect">
            <a:avLst/>
          </a:prstGeom>
          <a:noFill/>
          <a:ln/>
        </p:spPr>
        <p:txBody>
          <a:bodyPr wrap="square" lIns="0" tIns="0" rIns="0" bIns="0" rtlCol="0" anchor="ctr"/>
          <a:lstStyle/>
          <a:p>
            <a:pPr indent="0" marL="0">
              <a:lnSpc>
                <a:spcPts val="5000"/>
              </a:lnSpc>
              <a:buNone/>
            </a:pPr>
            <a:r>
              <a:rPr lang="en-US" sz="3600" b="1" dirty="0">
                <a:solidFill>
                  <a:srgbClr val="FFFFFF"/>
                </a:solidFill>
                <a:latin typeface="Yu Gothic" pitchFamily="34" charset="0"/>
                <a:ea typeface="Yu Gothic" pitchFamily="34" charset="-128"/>
                <a:ea typeface="Yu Gothic" pitchFamily="34" charset="-122"/>
                <a:cs typeface="Yu Gothic" pitchFamily="34" charset="-120"/>
              </a:rPr>
              <a:t>まずは15分、</a:t>
            </a:r>
            <a:endParaRPr lang="en-US" sz="3600" dirty="0"/>
          </a:p>
          <a:p>
            <a:pPr indent="0" marL="0">
              <a:lnSpc>
                <a:spcPts val="5000"/>
              </a:lnSpc>
              <a:buNone/>
            </a:pPr>
            <a:r>
              <a:rPr lang="en-US" sz="3600" b="1" dirty="0">
                <a:solidFill>
                  <a:srgbClr val="FFFFFF"/>
                </a:solidFill>
                <a:latin typeface="Yu Gothic" pitchFamily="34" charset="0"/>
                <a:ea typeface="Yu Gothic" pitchFamily="34" charset="-128"/>
                <a:ea typeface="Yu Gothic" pitchFamily="34" charset="-122"/>
                <a:cs typeface="Yu Gothic" pitchFamily="34" charset="-120"/>
              </a:rPr>
              <a:t>お話を聞かせてください</a:t>
            </a:r>
            <a:endParaRPr lang="en-US" sz="3600" dirty="0"/>
          </a:p>
        </p:txBody>
      </p:sp>
      <p:sp>
        <p:nvSpPr>
          <p:cNvPr id="3" name="Text 1"/>
          <p:cNvSpPr txBox="1"/>
          <p:nvPr/>
        </p:nvSpPr>
        <p:spPr>
          <a:xfrm>
            <a:off x="640080" y="2697480"/>
            <a:ext cx="6309360" cy="1828800"/>
          </a:xfrm>
          <a:prstGeom prst="rect">
            <a:avLst/>
          </a:prstGeom>
          <a:noFill/>
          <a:ln/>
        </p:spPr>
        <p:txBody>
          <a:bodyPr wrap="square" lIns="0" tIns="0" rIns="0" bIns="0" rtlCol="0" anchor="ctr"/>
          <a:lstStyle/>
          <a:p>
            <a:pPr indent="0" marL="0">
              <a:lnSpc>
                <a:spcPts val="2500"/>
              </a:lnSpc>
              <a:buNone/>
            </a:pPr>
            <a:r>
              <a:rPr lang="en-US" sz="1450" dirty="0">
                <a:solidFill>
                  <a:srgbClr val="BFD9E6"/>
                </a:solidFill>
                <a:latin typeface="Yu Gothic" pitchFamily="34" charset="0"/>
                <a:ea typeface="Yu Gothic" pitchFamily="34" charset="-128"/>
                <a:ea typeface="Yu Gothic" pitchFamily="34" charset="-122"/>
                <a:cs typeface="Yu Gothic" pitchFamily="34" charset="-120"/>
              </a:rPr>
              <a:t>どの書類が月に何通あるか、電話が一日に何本鳴るか。それだけ伺えれば、その場で返ってくる時間を計算してお見せできます。実際の画面もお持ちします。</a:t>
            </a:r>
            <a:endParaRPr lang="en-US" sz="1450" dirty="0"/>
          </a:p>
          <a:p>
            <a:pPr indent="0" marL="0">
              <a:lnSpc>
                <a:spcPts val="2500"/>
              </a:lnSpc>
              <a:buNone/>
            </a:pPr>
            <a:endParaRPr lang="en-US" sz="1450" dirty="0"/>
          </a:p>
          <a:p>
            <a:pPr indent="0" marL="0">
              <a:lnSpc>
                <a:spcPts val="2500"/>
              </a:lnSpc>
              <a:buNone/>
            </a:pPr>
            <a:r>
              <a:rPr lang="en-US" sz="1450" dirty="0">
                <a:solidFill>
                  <a:srgbClr val="BFD9E6"/>
                </a:solidFill>
                <a:latin typeface="Yu Gothic" pitchFamily="34" charset="0"/>
                <a:ea typeface="Yu Gothic" pitchFamily="34" charset="-128"/>
                <a:ea typeface="Yu Gothic" pitchFamily="34" charset="-122"/>
                <a:cs typeface="Yu Gothic" pitchFamily="34" charset="-120"/>
              </a:rPr>
              <a:t>売り込みではなく、まず現場の実情を教えていただきたいと考えています。こちらからお電話することはいたしません。</a:t>
            </a:r>
            <a:endParaRPr lang="en-US" sz="1450" dirty="0"/>
          </a:p>
        </p:txBody>
      </p:sp>
      <p:sp>
        <p:nvSpPr>
          <p:cNvPr id="4" name="Shape 2"/>
          <p:cNvSpPr/>
          <p:nvPr/>
        </p:nvSpPr>
        <p:spPr>
          <a:xfrm>
            <a:off x="7315200" y="1463040"/>
            <a:ext cx="4233672" cy="3520440"/>
          </a:xfrm>
          <a:prstGeom prst="roundRect">
            <a:avLst>
              <a:gd name="adj" fmla="val 2078"/>
            </a:avLst>
          </a:prstGeom>
          <a:solidFill>
            <a:srgbClr val="16536C"/>
          </a:solidFill>
          <a:ln w="12700">
            <a:solidFill>
              <a:srgbClr val="2C7797"/>
            </a:solidFill>
            <a:prstDash val="solid"/>
          </a:ln>
        </p:spPr>
      </p:sp>
      <p:sp>
        <p:nvSpPr>
          <p:cNvPr id="5" name="Text 3"/>
          <p:cNvSpPr txBox="1"/>
          <p:nvPr/>
        </p:nvSpPr>
        <p:spPr>
          <a:xfrm>
            <a:off x="7589520" y="1783080"/>
            <a:ext cx="3685032" cy="384048"/>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8"/>
                <a:ea typeface="Yu Gothic" pitchFamily="34" charset="-122"/>
                <a:cs typeface="Yu Gothic" pitchFamily="34" charset="-120"/>
              </a:rPr>
              <a:t>北摂AIサービス</a:t>
            </a:r>
            <a:endParaRPr lang="en-US" sz="2000" dirty="0"/>
          </a:p>
        </p:txBody>
      </p:sp>
      <p:sp>
        <p:nvSpPr>
          <p:cNvPr id="6" name="Text 4"/>
          <p:cNvSpPr txBox="1"/>
          <p:nvPr/>
        </p:nvSpPr>
        <p:spPr>
          <a:xfrm>
            <a:off x="7589520" y="2176272"/>
            <a:ext cx="3685032" cy="274320"/>
          </a:xfrm>
          <a:prstGeom prst="rect">
            <a:avLst/>
          </a:prstGeom>
          <a:noFill/>
          <a:ln/>
        </p:spPr>
        <p:txBody>
          <a:bodyPr wrap="square" lIns="0" tIns="0" rIns="0" bIns="0" rtlCol="0" anchor="ctr"/>
          <a:lstStyle/>
          <a:p>
            <a:pPr indent="0" marL="0">
              <a:buNone/>
            </a:pPr>
            <a:r>
              <a:rPr lang="en-US" sz="1150" dirty="0">
                <a:solidFill>
                  <a:srgbClr val="7FC4DE"/>
                </a:solidFill>
                <a:latin typeface="Yu Gothic" pitchFamily="34" charset="0"/>
                <a:ea typeface="Yu Gothic" pitchFamily="34" charset="-128"/>
                <a:ea typeface="Yu Gothic" pitchFamily="34" charset="-122"/>
                <a:cs typeface="Yu Gothic" pitchFamily="34" charset="-120"/>
              </a:rPr>
              <a:t>クリニック向けAI導入の伴走パートナー</a:t>
            </a:r>
            <a:endParaRPr lang="en-US" sz="1150" dirty="0"/>
          </a:p>
        </p:txBody>
      </p:sp>
      <p:sp>
        <p:nvSpPr>
          <p:cNvPr id="7" name="Text 5"/>
          <p:cNvSpPr txBox="1"/>
          <p:nvPr/>
        </p:nvSpPr>
        <p:spPr>
          <a:xfrm>
            <a:off x="7589520" y="2697480"/>
            <a:ext cx="3685032" cy="36576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8"/>
                <a:ea typeface="Yu Gothic" pitchFamily="34" charset="-122"/>
                <a:cs typeface="Yu Gothic" pitchFamily="34" charset="-120"/>
              </a:rPr>
              <a:t>林谷 豊山</a:t>
            </a:r>
            <a:endParaRPr lang="en-US" sz="1800" dirty="0"/>
          </a:p>
        </p:txBody>
      </p:sp>
      <p:sp>
        <p:nvSpPr>
          <p:cNvPr id="8" name="Text 6"/>
          <p:cNvSpPr txBox="1"/>
          <p:nvPr/>
        </p:nvSpPr>
        <p:spPr>
          <a:xfrm>
            <a:off x="7589520" y="3154680"/>
            <a:ext cx="3685032" cy="868680"/>
          </a:xfrm>
          <a:prstGeom prst="rect">
            <a:avLst/>
          </a:prstGeom>
          <a:noFill/>
          <a:ln/>
        </p:spPr>
        <p:txBody>
          <a:bodyPr wrap="square" lIns="0" tIns="0" rIns="0" bIns="0" rtlCol="0" anchor="t"/>
          <a:lstStyle/>
          <a:p>
            <a:pPr indent="0" marL="0">
              <a:lnSpc>
                <a:spcPts val="2600"/>
              </a:lnSpc>
              <a:buNone/>
            </a:pPr>
            <a:r>
              <a:rPr lang="en-US" sz="1350" dirty="0">
                <a:solidFill>
                  <a:srgbClr val="7FC4DE"/>
                </a:solidFill>
                <a:latin typeface="Yu Gothic" pitchFamily="34" charset="0"/>
                <a:ea typeface="Yu Gothic" pitchFamily="34" charset="-128"/>
                <a:ea typeface="Yu Gothic" pitchFamily="34" charset="-122"/>
                <a:cs typeface="Yu Gothic" pitchFamily="34" charset="-120"/>
              </a:rPr>
              <a:t>TEL　</a:t>
            </a:r>
            <a:pPr indent="0" marL="0">
              <a:lnSpc>
                <a:spcPts val="2600"/>
              </a:lnSpc>
              <a:buNone/>
            </a:pPr>
            <a:r>
              <a:rPr lang="en-US" sz="1350" b="1" dirty="0">
                <a:solidFill>
                  <a:srgbClr val="FFFFFF"/>
                </a:solidFill>
                <a:latin typeface="Yu Gothic" pitchFamily="34" charset="0"/>
                <a:ea typeface="Yu Gothic" pitchFamily="34" charset="-128"/>
                <a:ea typeface="Yu Gothic" pitchFamily="34" charset="-122"/>
                <a:cs typeface="Yu Gothic" pitchFamily="34" charset="-120"/>
              </a:rPr>
              <a:t>090-1910-2222</a:t>
            </a:r>
            <a:endParaRPr lang="en-US" sz="1350" dirty="0"/>
          </a:p>
          <a:p>
            <a:pPr indent="0" marL="0">
              <a:lnSpc>
                <a:spcPts val="2600"/>
              </a:lnSpc>
              <a:buNone/>
            </a:pPr>
            <a:r>
              <a:rPr lang="en-US" sz="1350" dirty="0">
                <a:solidFill>
                  <a:srgbClr val="7FC4DE"/>
                </a:solidFill>
                <a:latin typeface="Yu Gothic" pitchFamily="34" charset="0"/>
                <a:ea typeface="Yu Gothic" pitchFamily="34" charset="-128"/>
                <a:ea typeface="Yu Gothic" pitchFamily="34" charset="-122"/>
                <a:cs typeface="Yu Gothic" pitchFamily="34" charset="-120"/>
              </a:rPr>
              <a:t>Mail　</a:t>
            </a:r>
            <a:pPr indent="0" marL="0">
              <a:lnSpc>
                <a:spcPts val="2600"/>
              </a:lnSpc>
              <a:buNone/>
            </a:pPr>
            <a:r>
              <a:rPr lang="en-US" sz="1350" b="1" dirty="0">
                <a:solidFill>
                  <a:srgbClr val="FFFFFF"/>
                </a:solidFill>
                <a:latin typeface="Yu Gothic" pitchFamily="34" charset="0"/>
                <a:ea typeface="Yu Gothic" pitchFamily="34" charset="-128"/>
                <a:ea typeface="Yu Gothic" pitchFamily="34" charset="-122"/>
                <a:cs typeface="Yu Gothic" pitchFamily="34" charset="-120"/>
              </a:rPr>
              <a:t>t_hayashitani@icloud.com</a:t>
            </a:r>
            <a:endParaRPr lang="en-US" sz="1350" dirty="0"/>
          </a:p>
        </p:txBody>
      </p:sp>
      <p:sp>
        <p:nvSpPr>
          <p:cNvPr id="9" name="Text 7"/>
          <p:cNvSpPr txBox="1"/>
          <p:nvPr/>
        </p:nvSpPr>
        <p:spPr>
          <a:xfrm>
            <a:off x="7589520" y="4114800"/>
            <a:ext cx="3685032" cy="731520"/>
          </a:xfrm>
          <a:prstGeom prst="rect">
            <a:avLst/>
          </a:prstGeom>
          <a:noFill/>
          <a:ln/>
        </p:spPr>
        <p:txBody>
          <a:bodyPr wrap="square" lIns="0" tIns="0" rIns="0" bIns="0" rtlCol="0" anchor="ctr"/>
          <a:lstStyle/>
          <a:p>
            <a:pPr indent="0" marL="0">
              <a:lnSpc>
                <a:spcPts val="1600"/>
              </a:lnSpc>
              <a:buNone/>
            </a:pPr>
            <a:r>
              <a:rPr lang="en-US" sz="1050" dirty="0">
                <a:solidFill>
                  <a:srgbClr val="BFD9E6"/>
                </a:solidFill>
                <a:latin typeface="Yu Gothic" pitchFamily="34" charset="0"/>
                <a:ea typeface="Yu Gothic" pitchFamily="34" charset="-128"/>
                <a:ea typeface="Yu Gothic" pitchFamily="34" charset="-122"/>
                <a:cs typeface="Yu Gothic" pitchFamily="34" charset="-120"/>
              </a:rPr>
              <a:t>豊中・吹田・箕面・池田・高槻・茨木・摂津・島本 ほか北摂エリア</a:t>
            </a:r>
            <a:endParaRPr lang="en-US" sz="1050" dirty="0"/>
          </a:p>
          <a:p>
            <a:pPr indent="0" marL="0">
              <a:lnSpc>
                <a:spcPts val="1600"/>
              </a:lnSpc>
              <a:buNone/>
            </a:pPr>
            <a:r>
              <a:rPr lang="en-US" sz="1050" dirty="0">
                <a:solidFill>
                  <a:srgbClr val="BFD9E6"/>
                </a:solidFill>
                <a:latin typeface="Yu Gothic" pitchFamily="34" charset="0"/>
                <a:ea typeface="Yu Gothic" pitchFamily="34" charset="-128"/>
                <a:ea typeface="Yu Gothic" pitchFamily="34" charset="-122"/>
                <a:cs typeface="Yu Gothic" pitchFamily="34" charset="-120"/>
              </a:rPr>
              <a:t>(オンラインでのご相談は地域を問いません)</a:t>
            </a:r>
            <a:endParaRPr lang="en-US" sz="1050" dirty="0"/>
          </a:p>
        </p:txBody>
      </p:sp>
      <p:sp>
        <p:nvSpPr>
          <p:cNvPr id="10" name="Text 8"/>
          <p:cNvSpPr txBox="1"/>
          <p:nvPr/>
        </p:nvSpPr>
        <p:spPr>
          <a:xfrm>
            <a:off x="640080" y="5897880"/>
            <a:ext cx="10911535" cy="548640"/>
          </a:xfrm>
          <a:prstGeom prst="rect">
            <a:avLst/>
          </a:prstGeom>
          <a:noFill/>
          <a:ln/>
        </p:spPr>
        <p:txBody>
          <a:bodyPr wrap="square" lIns="0" tIns="0" rIns="0" bIns="0" rtlCol="0" anchor="ctr"/>
          <a:lstStyle/>
          <a:p>
            <a:pPr indent="0" marL="0">
              <a:lnSpc>
                <a:spcPts val="1500"/>
              </a:lnSpc>
              <a:buNone/>
            </a:pPr>
            <a:r>
              <a:rPr lang="en-US" sz="1000" dirty="0">
                <a:solidFill>
                  <a:srgbClr val="6E95A8"/>
                </a:solidFill>
                <a:latin typeface="Yu Gothic" pitchFamily="34" charset="0"/>
                <a:ea typeface="Yu Gothic" pitchFamily="34" charset="-128"/>
                <a:ea typeface="Yu Gothic" pitchFamily="34" charset="-122"/>
                <a:cs typeface="Yu Gothic" pitchFamily="34" charset="-120"/>
              </a:rPr>
              <a:t>本資料に挙げたサービス分類・費用感は2026年7月時点の各社公表情報に基づく参考値です。導入時はその時点の一次情報と貴院の環境をもとに個別に確認いたします。所要時間の試算は一例であり、効果を保証するものではありません。</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クリニックでAIにできること</dc:title>
  <dc:subject>PptxGenJS Presentation</dc:subject>
  <dc:creator>北摂AIサービス</dc:creator>
  <cp:lastModifiedBy>北摂AIサービス</cp:lastModifiedBy>
  <cp:revision>1</cp:revision>
  <dcterms:created xsi:type="dcterms:W3CDTF">2026-10-01T07:52:11Z</dcterms:created>
  <dcterms:modified xsi:type="dcterms:W3CDTF">2026-10-01T07:52:11Z</dcterms:modified>
</cp:coreProperties>
</file>